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Inconsolata"/>
      <p:regular r:id="rId18"/>
    </p:embeddedFont>
    <p:embeddedFont>
      <p:font typeface="Inconsolata"/>
      <p:regular r:id="rId19"/>
    </p:embeddedFont>
    <p:embeddedFont>
      <p:font typeface="Fira Sans"/>
      <p:regular r:id="rId20"/>
    </p:embeddedFont>
    <p:embeddedFont>
      <p:font typeface="Fira Sans"/>
      <p:regular r:id="rId21"/>
    </p:embeddedFont>
    <p:embeddedFont>
      <p:font typeface="Fira Sans"/>
      <p:regular r:id="rId22"/>
    </p:embeddedFont>
    <p:embeddedFont>
      <p:font typeface="Fira Sans"/>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Arpit Raj was the project lead, responsible for coordinating the team and ensuring timely delivery of all milestones.
• Raushan Kumar was the lead developer, who wrote the core functionality and implemented the technical architecture.
• Ishan Singh was the UI/UX designer, who created the visually appealing and intuitive interface for our application.
• Together, this team worked tirelessly to bring this project to life, and we are grateful for their hard work and dedication.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StudyGenius – Your AI-Powered Study Assistant</a:t>
            </a:r>
            <a:endParaRPr lang="en-US" sz="4450" dirty="0"/>
          </a:p>
        </p:txBody>
      </p:sp>
      <p:sp>
        <p:nvSpPr>
          <p:cNvPr id="4" name="Text 1"/>
          <p:cNvSpPr/>
          <p:nvPr/>
        </p:nvSpPr>
        <p:spPr>
          <a:xfrm>
            <a:off x="793790" y="4449247"/>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Introducing StudyGenius, the ultimate AI-powered study companion designed to revolutionize the way you approach learning and academic success.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452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Problem Statement</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Students today face a myriad of challenges when it comes to effectively managing their studies. From information overload to time-management issues, the traditional study methods often fall short in addressing the modern learner's needs.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539960"/>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Objectives</a:t>
            </a:r>
            <a:endParaRPr lang="en-US" sz="4450" dirty="0"/>
          </a:p>
        </p:txBody>
      </p:sp>
      <p:sp>
        <p:nvSpPr>
          <p:cNvPr id="3" name="Text 1"/>
          <p:cNvSpPr/>
          <p:nvPr/>
        </p:nvSpPr>
        <p:spPr>
          <a:xfrm>
            <a:off x="793790" y="381571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Streamline Learning</a:t>
            </a:r>
            <a:endParaRPr lang="en-US" sz="2200" dirty="0"/>
          </a:p>
        </p:txBody>
      </p:sp>
      <p:sp>
        <p:nvSpPr>
          <p:cNvPr id="4" name="Text 2"/>
          <p:cNvSpPr/>
          <p:nvPr/>
        </p:nvSpPr>
        <p:spPr>
          <a:xfrm>
            <a:off x="793790" y="4396859"/>
            <a:ext cx="3978116" cy="1088708"/>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Leverage AI technology to simplify the study process, making it more efficient and effective.</a:t>
            </a:r>
            <a:endParaRPr lang="en-US" sz="1750" dirty="0"/>
          </a:p>
        </p:txBody>
      </p:sp>
      <p:sp>
        <p:nvSpPr>
          <p:cNvPr id="5" name="Text 3"/>
          <p:cNvSpPr/>
          <p:nvPr/>
        </p:nvSpPr>
        <p:spPr>
          <a:xfrm>
            <a:off x="5332928" y="3815715"/>
            <a:ext cx="2975491"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Personalized Guidance</a:t>
            </a:r>
            <a:endParaRPr lang="en-US" sz="2200" dirty="0"/>
          </a:p>
        </p:txBody>
      </p:sp>
      <p:sp>
        <p:nvSpPr>
          <p:cNvPr id="6" name="Text 4"/>
          <p:cNvSpPr/>
          <p:nvPr/>
        </p:nvSpPr>
        <p:spPr>
          <a:xfrm>
            <a:off x="5332928" y="4396859"/>
            <a:ext cx="3978116" cy="1088708"/>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Provide tailored recommendations and support to cater to each student's unique learning style and needs.</a:t>
            </a:r>
            <a:endParaRPr lang="en-US" sz="1750" dirty="0"/>
          </a:p>
        </p:txBody>
      </p:sp>
      <p:sp>
        <p:nvSpPr>
          <p:cNvPr id="7" name="Text 5"/>
          <p:cNvSpPr/>
          <p:nvPr/>
        </p:nvSpPr>
        <p:spPr>
          <a:xfrm>
            <a:off x="9872067" y="381571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Improved Outcomes</a:t>
            </a:r>
            <a:endParaRPr lang="en-US" sz="2200" dirty="0"/>
          </a:p>
        </p:txBody>
      </p:sp>
      <p:sp>
        <p:nvSpPr>
          <p:cNvPr id="8" name="Text 6"/>
          <p:cNvSpPr/>
          <p:nvPr/>
        </p:nvSpPr>
        <p:spPr>
          <a:xfrm>
            <a:off x="9872067" y="4396859"/>
            <a:ext cx="3978116" cy="1088708"/>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Empower students to achieve their academic goals and excel in their studies.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57600" cy="8231148"/>
          </a:xfrm>
          <a:prstGeom prst="rect">
            <a:avLst/>
          </a:prstGeom>
        </p:spPr>
      </p:pic>
      <p:sp>
        <p:nvSpPr>
          <p:cNvPr id="3" name="Text 0"/>
          <p:cNvSpPr/>
          <p:nvPr/>
        </p:nvSpPr>
        <p:spPr>
          <a:xfrm>
            <a:off x="4397335" y="581144"/>
            <a:ext cx="5284113" cy="660440"/>
          </a:xfrm>
          <a:prstGeom prst="rect">
            <a:avLst/>
          </a:prstGeom>
          <a:noFill/>
          <a:ln/>
        </p:spPr>
        <p:txBody>
          <a:bodyPr wrap="none" lIns="0" tIns="0" rIns="0" bIns="0" rtlCol="0" anchor="t"/>
          <a:lstStyle/>
          <a:p>
            <a:pPr algn="l" indent="0" marL="0">
              <a:lnSpc>
                <a:spcPts val="5200"/>
              </a:lnSpc>
              <a:buNone/>
            </a:pPr>
            <a:r>
              <a:rPr lang="en-US" sz="4150" b="1" dirty="0">
                <a:solidFill>
                  <a:srgbClr val="F94CAF"/>
                </a:solidFill>
                <a:latin typeface="Inconsolata Bold" pitchFamily="34" charset="0"/>
                <a:ea typeface="Inconsolata Bold" pitchFamily="34" charset="-122"/>
                <a:cs typeface="Inconsolata Bold" pitchFamily="34" charset="-120"/>
              </a:rPr>
              <a:t>Features</a:t>
            </a:r>
            <a:endParaRPr lang="en-US" sz="4150" dirty="0"/>
          </a:p>
        </p:txBody>
      </p:sp>
      <p:sp>
        <p:nvSpPr>
          <p:cNvPr id="4" name="Shape 1"/>
          <p:cNvSpPr/>
          <p:nvPr/>
        </p:nvSpPr>
        <p:spPr>
          <a:xfrm>
            <a:off x="4397335" y="1558528"/>
            <a:ext cx="475536" cy="475536"/>
          </a:xfrm>
          <a:prstGeom prst="roundRect">
            <a:avLst>
              <a:gd name="adj" fmla="val 6667"/>
            </a:avLst>
          </a:prstGeom>
          <a:solidFill>
            <a:srgbClr val="433550"/>
          </a:solidFill>
          <a:ln/>
        </p:spPr>
      </p:sp>
      <p:sp>
        <p:nvSpPr>
          <p:cNvPr id="5" name="Text 2"/>
          <p:cNvSpPr/>
          <p:nvPr/>
        </p:nvSpPr>
        <p:spPr>
          <a:xfrm>
            <a:off x="4476631" y="1598176"/>
            <a:ext cx="316944" cy="396240"/>
          </a:xfrm>
          <a:prstGeom prst="rect">
            <a:avLst/>
          </a:prstGeom>
          <a:noFill/>
          <a:ln/>
        </p:spPr>
        <p:txBody>
          <a:bodyPr wrap="none" lIns="0" tIns="0" rIns="0" bIns="0" rtlCol="0" anchor="t"/>
          <a:lstStyle/>
          <a:p>
            <a:pPr algn="ctr" indent="0" marL="0">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1</a:t>
            </a:r>
            <a:endParaRPr lang="en-US" sz="2450" dirty="0"/>
          </a:p>
        </p:txBody>
      </p:sp>
      <p:sp>
        <p:nvSpPr>
          <p:cNvPr id="6" name="Text 3"/>
          <p:cNvSpPr/>
          <p:nvPr/>
        </p:nvSpPr>
        <p:spPr>
          <a:xfrm>
            <a:off x="5084207" y="1631156"/>
            <a:ext cx="2641997" cy="330160"/>
          </a:xfrm>
          <a:prstGeom prst="rect">
            <a:avLst/>
          </a:prstGeom>
          <a:noFill/>
          <a:ln/>
        </p:spPr>
        <p:txBody>
          <a:bodyPr wrap="none" lIns="0" tIns="0" rIns="0" bIns="0" rtlCol="0" anchor="t"/>
          <a:lstStyle/>
          <a:p>
            <a:pPr algn="l" indent="0" marL="0">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Summarizer</a:t>
            </a:r>
            <a:endParaRPr lang="en-US" sz="2050" dirty="0"/>
          </a:p>
        </p:txBody>
      </p:sp>
      <p:sp>
        <p:nvSpPr>
          <p:cNvPr id="7" name="Text 4"/>
          <p:cNvSpPr/>
          <p:nvPr/>
        </p:nvSpPr>
        <p:spPr>
          <a:xfrm>
            <a:off x="5084207" y="2088118"/>
            <a:ext cx="8806458" cy="676275"/>
          </a:xfrm>
          <a:prstGeom prst="rect">
            <a:avLst/>
          </a:prstGeom>
          <a:noFill/>
          <a:ln/>
        </p:spPr>
        <p:txBody>
          <a:bodyPr wrap="square" lIns="0" tIns="0" rIns="0" bIns="0" rtlCol="0" anchor="t"/>
          <a:lstStyle/>
          <a:p>
            <a:pPr algn="l" indent="0" marL="0">
              <a:lnSpc>
                <a:spcPts val="2650"/>
              </a:lnSpc>
              <a:buNone/>
            </a:pPr>
            <a:r>
              <a:rPr lang="en-US" sz="1650" dirty="0">
                <a:solidFill>
                  <a:srgbClr val="DAD1E6"/>
                </a:solidFill>
                <a:latin typeface="Fira Sans" pitchFamily="34" charset="0"/>
                <a:ea typeface="Fira Sans" pitchFamily="34" charset="-122"/>
                <a:cs typeface="Fira Sans" pitchFamily="34" charset="-120"/>
              </a:rPr>
              <a:t>Automatically generate concise summaries of lengthy reading materials, helping students quickly grasp key concepts.</a:t>
            </a:r>
            <a:endParaRPr lang="en-US" sz="1650" dirty="0"/>
          </a:p>
        </p:txBody>
      </p:sp>
      <p:sp>
        <p:nvSpPr>
          <p:cNvPr id="8" name="Shape 5"/>
          <p:cNvSpPr/>
          <p:nvPr/>
        </p:nvSpPr>
        <p:spPr>
          <a:xfrm>
            <a:off x="4397335" y="3187065"/>
            <a:ext cx="475536" cy="475536"/>
          </a:xfrm>
          <a:prstGeom prst="roundRect">
            <a:avLst>
              <a:gd name="adj" fmla="val 6667"/>
            </a:avLst>
          </a:prstGeom>
          <a:solidFill>
            <a:srgbClr val="433550"/>
          </a:solidFill>
          <a:ln/>
        </p:spPr>
      </p:sp>
      <p:sp>
        <p:nvSpPr>
          <p:cNvPr id="9" name="Text 6"/>
          <p:cNvSpPr/>
          <p:nvPr/>
        </p:nvSpPr>
        <p:spPr>
          <a:xfrm>
            <a:off x="4476631" y="3226713"/>
            <a:ext cx="316944" cy="396240"/>
          </a:xfrm>
          <a:prstGeom prst="rect">
            <a:avLst/>
          </a:prstGeom>
          <a:noFill/>
          <a:ln/>
        </p:spPr>
        <p:txBody>
          <a:bodyPr wrap="none" lIns="0" tIns="0" rIns="0" bIns="0" rtlCol="0" anchor="t"/>
          <a:lstStyle/>
          <a:p>
            <a:pPr algn="ctr" indent="0" marL="0">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2</a:t>
            </a:r>
            <a:endParaRPr lang="en-US" sz="2450" dirty="0"/>
          </a:p>
        </p:txBody>
      </p:sp>
      <p:sp>
        <p:nvSpPr>
          <p:cNvPr id="10" name="Text 7"/>
          <p:cNvSpPr/>
          <p:nvPr/>
        </p:nvSpPr>
        <p:spPr>
          <a:xfrm>
            <a:off x="5084207" y="3259693"/>
            <a:ext cx="2641997" cy="330160"/>
          </a:xfrm>
          <a:prstGeom prst="rect">
            <a:avLst/>
          </a:prstGeom>
          <a:noFill/>
          <a:ln/>
        </p:spPr>
        <p:txBody>
          <a:bodyPr wrap="none" lIns="0" tIns="0" rIns="0" bIns="0" rtlCol="0" anchor="t"/>
          <a:lstStyle/>
          <a:p>
            <a:pPr algn="l" indent="0" marL="0">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Flashcards</a:t>
            </a:r>
            <a:endParaRPr lang="en-US" sz="2050" dirty="0"/>
          </a:p>
        </p:txBody>
      </p:sp>
      <p:sp>
        <p:nvSpPr>
          <p:cNvPr id="11" name="Text 8"/>
          <p:cNvSpPr/>
          <p:nvPr/>
        </p:nvSpPr>
        <p:spPr>
          <a:xfrm>
            <a:off x="5084207" y="3716655"/>
            <a:ext cx="8806458" cy="676275"/>
          </a:xfrm>
          <a:prstGeom prst="rect">
            <a:avLst/>
          </a:prstGeom>
          <a:noFill/>
          <a:ln/>
        </p:spPr>
        <p:txBody>
          <a:bodyPr wrap="square" lIns="0" tIns="0" rIns="0" bIns="0" rtlCol="0" anchor="t"/>
          <a:lstStyle/>
          <a:p>
            <a:pPr algn="l" indent="0" marL="0">
              <a:lnSpc>
                <a:spcPts val="2650"/>
              </a:lnSpc>
              <a:buNone/>
            </a:pPr>
            <a:r>
              <a:rPr lang="en-US" sz="1650" dirty="0">
                <a:solidFill>
                  <a:srgbClr val="DAD1E6"/>
                </a:solidFill>
                <a:latin typeface="Fira Sans" pitchFamily="34" charset="0"/>
                <a:ea typeface="Fira Sans" pitchFamily="34" charset="-122"/>
                <a:cs typeface="Fira Sans" pitchFamily="34" charset="-120"/>
              </a:rPr>
              <a:t>Create personalized digital flashcards that adapt to the user's learning progress, reinforcing retention of important information.</a:t>
            </a:r>
            <a:endParaRPr lang="en-US" sz="1650" dirty="0"/>
          </a:p>
        </p:txBody>
      </p:sp>
      <p:sp>
        <p:nvSpPr>
          <p:cNvPr id="12" name="Shape 9"/>
          <p:cNvSpPr/>
          <p:nvPr/>
        </p:nvSpPr>
        <p:spPr>
          <a:xfrm>
            <a:off x="4397335" y="4815602"/>
            <a:ext cx="475536" cy="475536"/>
          </a:xfrm>
          <a:prstGeom prst="roundRect">
            <a:avLst>
              <a:gd name="adj" fmla="val 6667"/>
            </a:avLst>
          </a:prstGeom>
          <a:solidFill>
            <a:srgbClr val="433550"/>
          </a:solidFill>
          <a:ln/>
        </p:spPr>
      </p:sp>
      <p:sp>
        <p:nvSpPr>
          <p:cNvPr id="13" name="Text 10"/>
          <p:cNvSpPr/>
          <p:nvPr/>
        </p:nvSpPr>
        <p:spPr>
          <a:xfrm>
            <a:off x="4476631" y="4855250"/>
            <a:ext cx="316944" cy="396240"/>
          </a:xfrm>
          <a:prstGeom prst="rect">
            <a:avLst/>
          </a:prstGeom>
          <a:noFill/>
          <a:ln/>
        </p:spPr>
        <p:txBody>
          <a:bodyPr wrap="none" lIns="0" tIns="0" rIns="0" bIns="0" rtlCol="0" anchor="t"/>
          <a:lstStyle/>
          <a:p>
            <a:pPr algn="ctr" indent="0" marL="0">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3</a:t>
            </a:r>
            <a:endParaRPr lang="en-US" sz="2450" dirty="0"/>
          </a:p>
        </p:txBody>
      </p:sp>
      <p:sp>
        <p:nvSpPr>
          <p:cNvPr id="14" name="Text 11"/>
          <p:cNvSpPr/>
          <p:nvPr/>
        </p:nvSpPr>
        <p:spPr>
          <a:xfrm>
            <a:off x="5084207" y="4888230"/>
            <a:ext cx="2641997" cy="330160"/>
          </a:xfrm>
          <a:prstGeom prst="rect">
            <a:avLst/>
          </a:prstGeom>
          <a:noFill/>
          <a:ln/>
        </p:spPr>
        <p:txBody>
          <a:bodyPr wrap="none" lIns="0" tIns="0" rIns="0" bIns="0" rtlCol="0" anchor="t"/>
          <a:lstStyle/>
          <a:p>
            <a:pPr algn="l" indent="0" marL="0">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Quiz</a:t>
            </a:r>
            <a:endParaRPr lang="en-US" sz="2050" dirty="0"/>
          </a:p>
        </p:txBody>
      </p:sp>
      <p:sp>
        <p:nvSpPr>
          <p:cNvPr id="15" name="Text 12"/>
          <p:cNvSpPr/>
          <p:nvPr/>
        </p:nvSpPr>
        <p:spPr>
          <a:xfrm>
            <a:off x="5084207" y="5345192"/>
            <a:ext cx="8806458" cy="676275"/>
          </a:xfrm>
          <a:prstGeom prst="rect">
            <a:avLst/>
          </a:prstGeom>
          <a:noFill/>
          <a:ln/>
        </p:spPr>
        <p:txBody>
          <a:bodyPr wrap="square" lIns="0" tIns="0" rIns="0" bIns="0" rtlCol="0" anchor="t"/>
          <a:lstStyle/>
          <a:p>
            <a:pPr algn="l" indent="0" marL="0">
              <a:lnSpc>
                <a:spcPts val="2650"/>
              </a:lnSpc>
              <a:buNone/>
            </a:pPr>
            <a:r>
              <a:rPr lang="en-US" sz="1650" dirty="0">
                <a:solidFill>
                  <a:srgbClr val="DAD1E6"/>
                </a:solidFill>
                <a:latin typeface="Fira Sans" pitchFamily="34" charset="0"/>
                <a:ea typeface="Fira Sans" pitchFamily="34" charset="-122"/>
                <a:cs typeface="Fira Sans" pitchFamily="34" charset="-120"/>
              </a:rPr>
              <a:t>Assess understanding through customizable quizzes and practice tests, providing real-time feedback and performance tracking.</a:t>
            </a:r>
            <a:endParaRPr lang="en-US" sz="1650" dirty="0"/>
          </a:p>
        </p:txBody>
      </p:sp>
      <p:sp>
        <p:nvSpPr>
          <p:cNvPr id="16" name="Shape 13"/>
          <p:cNvSpPr/>
          <p:nvPr/>
        </p:nvSpPr>
        <p:spPr>
          <a:xfrm>
            <a:off x="4397335" y="6444139"/>
            <a:ext cx="475536" cy="475536"/>
          </a:xfrm>
          <a:prstGeom prst="roundRect">
            <a:avLst>
              <a:gd name="adj" fmla="val 6667"/>
            </a:avLst>
          </a:prstGeom>
          <a:solidFill>
            <a:srgbClr val="433550"/>
          </a:solidFill>
          <a:ln/>
        </p:spPr>
      </p:sp>
      <p:sp>
        <p:nvSpPr>
          <p:cNvPr id="17" name="Text 14"/>
          <p:cNvSpPr/>
          <p:nvPr/>
        </p:nvSpPr>
        <p:spPr>
          <a:xfrm>
            <a:off x="4476631" y="6483787"/>
            <a:ext cx="316944" cy="396240"/>
          </a:xfrm>
          <a:prstGeom prst="rect">
            <a:avLst/>
          </a:prstGeom>
          <a:noFill/>
          <a:ln/>
        </p:spPr>
        <p:txBody>
          <a:bodyPr wrap="none" lIns="0" tIns="0" rIns="0" bIns="0" rtlCol="0" anchor="t"/>
          <a:lstStyle/>
          <a:p>
            <a:pPr algn="ctr" indent="0" marL="0">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4</a:t>
            </a:r>
            <a:endParaRPr lang="en-US" sz="2450" dirty="0"/>
          </a:p>
        </p:txBody>
      </p:sp>
      <p:sp>
        <p:nvSpPr>
          <p:cNvPr id="18" name="Text 15"/>
          <p:cNvSpPr/>
          <p:nvPr/>
        </p:nvSpPr>
        <p:spPr>
          <a:xfrm>
            <a:off x="5084207" y="6516767"/>
            <a:ext cx="2641997" cy="330160"/>
          </a:xfrm>
          <a:prstGeom prst="rect">
            <a:avLst/>
          </a:prstGeom>
          <a:noFill/>
          <a:ln/>
        </p:spPr>
        <p:txBody>
          <a:bodyPr wrap="none" lIns="0" tIns="0" rIns="0" bIns="0" rtlCol="0" anchor="t"/>
          <a:lstStyle/>
          <a:p>
            <a:pPr algn="l" indent="0" marL="0">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Reminders</a:t>
            </a:r>
            <a:endParaRPr lang="en-US" sz="2050" dirty="0"/>
          </a:p>
        </p:txBody>
      </p:sp>
      <p:sp>
        <p:nvSpPr>
          <p:cNvPr id="19" name="Text 16"/>
          <p:cNvSpPr/>
          <p:nvPr/>
        </p:nvSpPr>
        <p:spPr>
          <a:xfrm>
            <a:off x="5084207" y="6973729"/>
            <a:ext cx="8806458" cy="676275"/>
          </a:xfrm>
          <a:prstGeom prst="rect">
            <a:avLst/>
          </a:prstGeom>
          <a:noFill/>
          <a:ln/>
        </p:spPr>
        <p:txBody>
          <a:bodyPr wrap="square" lIns="0" tIns="0" rIns="0" bIns="0" rtlCol="0" anchor="t"/>
          <a:lstStyle/>
          <a:p>
            <a:pPr algn="l" indent="0" marL="0">
              <a:lnSpc>
                <a:spcPts val="2650"/>
              </a:lnSpc>
              <a:buNone/>
            </a:pPr>
            <a:r>
              <a:rPr lang="en-US" sz="1650" dirty="0">
                <a:solidFill>
                  <a:srgbClr val="DAD1E6"/>
                </a:solidFill>
                <a:latin typeface="Fira Sans" pitchFamily="34" charset="0"/>
                <a:ea typeface="Fira Sans" pitchFamily="34" charset="-122"/>
                <a:cs typeface="Fira Sans" pitchFamily="34" charset="-120"/>
              </a:rPr>
              <a:t>Receive timely reminders for upcoming deadlines, study sessions, and other important academic events.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657600" cy="8229600"/>
          </a:xfrm>
          <a:prstGeom prst="rect">
            <a:avLst/>
          </a:prstGeom>
        </p:spPr>
      </p:pic>
      <p:sp>
        <p:nvSpPr>
          <p:cNvPr id="3" name="Text 0"/>
          <p:cNvSpPr/>
          <p:nvPr/>
        </p:nvSpPr>
        <p:spPr>
          <a:xfrm>
            <a:off x="4451390" y="136195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Technical Stack</a:t>
            </a:r>
            <a:endParaRPr lang="en-US" sz="4450" dirty="0"/>
          </a:p>
        </p:txBody>
      </p:sp>
      <p:pic>
        <p:nvPicPr>
          <p:cNvPr id="4" name="Image 1" descr="preencoded.png">    </p:cNvPr>
          <p:cNvPicPr>
            <a:picLocks noChangeAspect="1"/>
          </p:cNvPicPr>
          <p:nvPr/>
        </p:nvPicPr>
        <p:blipFill>
          <a:blip r:embed="rId2"/>
          <a:stretch>
            <a:fillRect/>
          </a:stretch>
        </p:blipFill>
        <p:spPr>
          <a:xfrm>
            <a:off x="4451390" y="2410897"/>
            <a:ext cx="566976" cy="566976"/>
          </a:xfrm>
          <a:prstGeom prst="rect">
            <a:avLst/>
          </a:prstGeom>
        </p:spPr>
      </p:pic>
      <p:sp>
        <p:nvSpPr>
          <p:cNvPr id="5" name="Text 1"/>
          <p:cNvSpPr/>
          <p:nvPr/>
        </p:nvSpPr>
        <p:spPr>
          <a:xfrm>
            <a:off x="4451390" y="320468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HTML</a:t>
            </a:r>
            <a:endParaRPr lang="en-US" sz="2200" dirty="0"/>
          </a:p>
        </p:txBody>
      </p:sp>
      <p:pic>
        <p:nvPicPr>
          <p:cNvPr id="6" name="Image 2" descr="preencoded.png">    </p:cNvPr>
          <p:cNvPicPr>
            <a:picLocks noChangeAspect="1"/>
          </p:cNvPicPr>
          <p:nvPr/>
        </p:nvPicPr>
        <p:blipFill>
          <a:blip r:embed="rId3"/>
          <a:stretch>
            <a:fillRect/>
          </a:stretch>
        </p:blipFill>
        <p:spPr>
          <a:xfrm>
            <a:off x="7674293" y="2410897"/>
            <a:ext cx="566976" cy="566976"/>
          </a:xfrm>
          <a:prstGeom prst="rect">
            <a:avLst/>
          </a:prstGeom>
        </p:spPr>
      </p:pic>
      <p:sp>
        <p:nvSpPr>
          <p:cNvPr id="7" name="Text 2"/>
          <p:cNvSpPr/>
          <p:nvPr/>
        </p:nvSpPr>
        <p:spPr>
          <a:xfrm>
            <a:off x="7674293" y="320468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CSS</a:t>
            </a:r>
            <a:endParaRPr lang="en-US" sz="2200" dirty="0"/>
          </a:p>
        </p:txBody>
      </p:sp>
      <p:pic>
        <p:nvPicPr>
          <p:cNvPr id="8" name="Image 3" descr="preencoded.png">    </p:cNvPr>
          <p:cNvPicPr>
            <a:picLocks noChangeAspect="1"/>
          </p:cNvPicPr>
          <p:nvPr/>
        </p:nvPicPr>
        <p:blipFill>
          <a:blip r:embed="rId4"/>
          <a:stretch>
            <a:fillRect/>
          </a:stretch>
        </p:blipFill>
        <p:spPr>
          <a:xfrm>
            <a:off x="10897195" y="2410897"/>
            <a:ext cx="566976" cy="566976"/>
          </a:xfrm>
          <a:prstGeom prst="rect">
            <a:avLst/>
          </a:prstGeom>
        </p:spPr>
      </p:pic>
      <p:sp>
        <p:nvSpPr>
          <p:cNvPr id="9" name="Text 3"/>
          <p:cNvSpPr/>
          <p:nvPr/>
        </p:nvSpPr>
        <p:spPr>
          <a:xfrm>
            <a:off x="10897195" y="320468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JavaScript</a:t>
            </a:r>
            <a:endParaRPr lang="en-US" sz="2200" dirty="0"/>
          </a:p>
        </p:txBody>
      </p:sp>
      <p:pic>
        <p:nvPicPr>
          <p:cNvPr id="10" name="Image 4" descr="preencoded.png">    </p:cNvPr>
          <p:cNvPicPr>
            <a:picLocks noChangeAspect="1"/>
          </p:cNvPicPr>
          <p:nvPr/>
        </p:nvPicPr>
        <p:blipFill>
          <a:blip r:embed="rId5"/>
          <a:stretch>
            <a:fillRect/>
          </a:stretch>
        </p:blipFill>
        <p:spPr>
          <a:xfrm>
            <a:off x="4451390" y="4012644"/>
            <a:ext cx="566976" cy="566976"/>
          </a:xfrm>
          <a:prstGeom prst="rect">
            <a:avLst/>
          </a:prstGeom>
        </p:spPr>
      </p:pic>
      <p:sp>
        <p:nvSpPr>
          <p:cNvPr id="11" name="Text 4"/>
          <p:cNvSpPr/>
          <p:nvPr/>
        </p:nvSpPr>
        <p:spPr>
          <a:xfrm>
            <a:off x="4451390" y="480643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Node.js</a:t>
            </a:r>
            <a:endParaRPr lang="en-US" sz="2200" dirty="0"/>
          </a:p>
        </p:txBody>
      </p:sp>
      <p:sp>
        <p:nvSpPr>
          <p:cNvPr id="12" name="Text 5"/>
          <p:cNvSpPr/>
          <p:nvPr/>
        </p:nvSpPr>
        <p:spPr>
          <a:xfrm>
            <a:off x="4451390" y="5415915"/>
            <a:ext cx="9385221"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StudyGenius is built on a powerful technology stack that includes HTML, CSS, and JavaScript for the user interface, Node.js for the backend, and integration with the OpenAI API for advanced language processing capabilities. The entire platform is hosted on Replit, a collaborative coding environment.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86452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User Interface</a:t>
            </a:r>
            <a:endParaRPr lang="en-US" sz="4450" dirty="0"/>
          </a:p>
        </p:txBody>
      </p:sp>
      <p:sp>
        <p:nvSpPr>
          <p:cNvPr id="4" name="Text 1"/>
          <p:cNvSpPr/>
          <p:nvPr/>
        </p:nvSpPr>
        <p:spPr>
          <a:xfrm>
            <a:off x="6280190" y="39134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The StudyGenius user interface is designed to be intuitive and user-friendly, with a clean and modern aesthetic. The main features, including the Summarizer, Flashcards, Quiz, and Reminders, are easily accessible through a seamless navigation menu.</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8168"/>
          </a:xfrm>
          <a:prstGeom prst="rect">
            <a:avLst/>
          </a:prstGeom>
        </p:spPr>
      </p:pic>
      <p:sp>
        <p:nvSpPr>
          <p:cNvPr id="3" name="Text 0"/>
          <p:cNvSpPr/>
          <p:nvPr/>
        </p:nvSpPr>
        <p:spPr>
          <a:xfrm>
            <a:off x="696635" y="3035498"/>
            <a:ext cx="4976455" cy="622102"/>
          </a:xfrm>
          <a:prstGeom prst="rect">
            <a:avLst/>
          </a:prstGeom>
          <a:noFill/>
          <a:ln/>
        </p:spPr>
        <p:txBody>
          <a:bodyPr wrap="none" lIns="0" tIns="0" rIns="0" bIns="0" rtlCol="0" anchor="t"/>
          <a:lstStyle/>
          <a:p>
            <a:pPr algn="l" indent="0" marL="0">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Workflow</a:t>
            </a:r>
            <a:endParaRPr lang="en-US" sz="3900" dirty="0"/>
          </a:p>
        </p:txBody>
      </p:sp>
      <p:sp>
        <p:nvSpPr>
          <p:cNvPr id="4" name="Shape 1"/>
          <p:cNvSpPr/>
          <p:nvPr/>
        </p:nvSpPr>
        <p:spPr>
          <a:xfrm>
            <a:off x="696635" y="5819656"/>
            <a:ext cx="13237131" cy="22860"/>
          </a:xfrm>
          <a:prstGeom prst="roundRect">
            <a:avLst>
              <a:gd name="adj" fmla="val 130619"/>
            </a:avLst>
          </a:prstGeom>
          <a:solidFill>
            <a:srgbClr val="5C4E69"/>
          </a:solidFill>
          <a:ln/>
        </p:spPr>
      </p:sp>
      <p:sp>
        <p:nvSpPr>
          <p:cNvPr id="5" name="Shape 2"/>
          <p:cNvSpPr/>
          <p:nvPr/>
        </p:nvSpPr>
        <p:spPr>
          <a:xfrm>
            <a:off x="3257788" y="5222617"/>
            <a:ext cx="22860" cy="597098"/>
          </a:xfrm>
          <a:prstGeom prst="roundRect">
            <a:avLst>
              <a:gd name="adj" fmla="val 130619"/>
            </a:avLst>
          </a:prstGeom>
          <a:solidFill>
            <a:srgbClr val="5C4E69"/>
          </a:solidFill>
          <a:ln/>
        </p:spPr>
      </p:sp>
      <p:sp>
        <p:nvSpPr>
          <p:cNvPr id="6" name="Shape 3"/>
          <p:cNvSpPr/>
          <p:nvPr/>
        </p:nvSpPr>
        <p:spPr>
          <a:xfrm>
            <a:off x="3045381" y="5595759"/>
            <a:ext cx="447794" cy="447794"/>
          </a:xfrm>
          <a:prstGeom prst="roundRect">
            <a:avLst>
              <a:gd name="adj" fmla="val 6668"/>
            </a:avLst>
          </a:prstGeom>
          <a:solidFill>
            <a:srgbClr val="433550"/>
          </a:solidFill>
          <a:ln/>
        </p:spPr>
      </p:sp>
      <p:sp>
        <p:nvSpPr>
          <p:cNvPr id="7" name="Text 4"/>
          <p:cNvSpPr/>
          <p:nvPr/>
        </p:nvSpPr>
        <p:spPr>
          <a:xfrm>
            <a:off x="3119973"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DAD1E6"/>
                </a:solidFill>
                <a:latin typeface="Inconsolata Bold" pitchFamily="34" charset="0"/>
                <a:ea typeface="Inconsolata Bold" pitchFamily="34" charset="-122"/>
                <a:cs typeface="Inconsolata Bold" pitchFamily="34" charset="-120"/>
              </a:rPr>
              <a:t>1</a:t>
            </a:r>
            <a:endParaRPr lang="en-US" sz="2350" dirty="0"/>
          </a:p>
        </p:txBody>
      </p:sp>
      <p:sp>
        <p:nvSpPr>
          <p:cNvPr id="8" name="Text 5"/>
          <p:cNvSpPr/>
          <p:nvPr/>
        </p:nvSpPr>
        <p:spPr>
          <a:xfrm>
            <a:off x="2025253" y="3956090"/>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Onboard</a:t>
            </a:r>
            <a:endParaRPr lang="en-US" sz="1950" dirty="0"/>
          </a:p>
        </p:txBody>
      </p:sp>
      <p:sp>
        <p:nvSpPr>
          <p:cNvPr id="9" name="Text 6"/>
          <p:cNvSpPr/>
          <p:nvPr/>
        </p:nvSpPr>
        <p:spPr>
          <a:xfrm>
            <a:off x="895588" y="4386501"/>
            <a:ext cx="4747617" cy="636984"/>
          </a:xfrm>
          <a:prstGeom prst="rect">
            <a:avLst/>
          </a:prstGeom>
          <a:noFill/>
          <a:ln/>
        </p:spPr>
        <p:txBody>
          <a:bodyPr wrap="square" lIns="0" tIns="0" rIns="0" bIns="0" rtlCol="0" anchor="t"/>
          <a:lstStyle/>
          <a:p>
            <a:pPr algn="ctr" indent="0" marL="0">
              <a:lnSpc>
                <a:spcPts val="2500"/>
              </a:lnSpc>
              <a:buNone/>
            </a:pPr>
            <a:r>
              <a:rPr lang="en-US" sz="1550" dirty="0">
                <a:solidFill>
                  <a:srgbClr val="DAD1E6"/>
                </a:solidFill>
                <a:latin typeface="Fira Sans" pitchFamily="34" charset="0"/>
                <a:ea typeface="Fira Sans" pitchFamily="34" charset="-122"/>
                <a:cs typeface="Fira Sans" pitchFamily="34" charset="-120"/>
              </a:rPr>
              <a:t>Sign up and set up your personalized study preferences.</a:t>
            </a:r>
            <a:endParaRPr lang="en-US" sz="1550" dirty="0"/>
          </a:p>
        </p:txBody>
      </p:sp>
      <p:sp>
        <p:nvSpPr>
          <p:cNvPr id="10" name="Shape 7"/>
          <p:cNvSpPr/>
          <p:nvPr/>
        </p:nvSpPr>
        <p:spPr>
          <a:xfrm>
            <a:off x="5955030" y="5819596"/>
            <a:ext cx="22860" cy="597098"/>
          </a:xfrm>
          <a:prstGeom prst="roundRect">
            <a:avLst>
              <a:gd name="adj" fmla="val 130619"/>
            </a:avLst>
          </a:prstGeom>
          <a:solidFill>
            <a:srgbClr val="5C4E69"/>
          </a:solidFill>
          <a:ln/>
        </p:spPr>
      </p:sp>
      <p:sp>
        <p:nvSpPr>
          <p:cNvPr id="11" name="Shape 8"/>
          <p:cNvSpPr/>
          <p:nvPr/>
        </p:nvSpPr>
        <p:spPr>
          <a:xfrm>
            <a:off x="5742623" y="5595759"/>
            <a:ext cx="447794" cy="447794"/>
          </a:xfrm>
          <a:prstGeom prst="roundRect">
            <a:avLst>
              <a:gd name="adj" fmla="val 6668"/>
            </a:avLst>
          </a:prstGeom>
          <a:solidFill>
            <a:srgbClr val="433550"/>
          </a:solidFill>
          <a:ln/>
        </p:spPr>
      </p:sp>
      <p:sp>
        <p:nvSpPr>
          <p:cNvPr id="12" name="Text 9"/>
          <p:cNvSpPr/>
          <p:nvPr/>
        </p:nvSpPr>
        <p:spPr>
          <a:xfrm>
            <a:off x="5817215"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DAD1E6"/>
                </a:solidFill>
                <a:latin typeface="Inconsolata Bold" pitchFamily="34" charset="0"/>
                <a:ea typeface="Inconsolata Bold" pitchFamily="34" charset="-122"/>
                <a:cs typeface="Inconsolata Bold" pitchFamily="34" charset="-120"/>
              </a:rPr>
              <a:t>2</a:t>
            </a:r>
            <a:endParaRPr lang="en-US" sz="2350" dirty="0"/>
          </a:p>
        </p:txBody>
      </p:sp>
      <p:sp>
        <p:nvSpPr>
          <p:cNvPr id="13" name="Text 10"/>
          <p:cNvSpPr/>
          <p:nvPr/>
        </p:nvSpPr>
        <p:spPr>
          <a:xfrm>
            <a:off x="4722495" y="6615827"/>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Summarize</a:t>
            </a:r>
            <a:endParaRPr lang="en-US" sz="1950" dirty="0"/>
          </a:p>
        </p:txBody>
      </p:sp>
      <p:sp>
        <p:nvSpPr>
          <p:cNvPr id="14" name="Text 11"/>
          <p:cNvSpPr/>
          <p:nvPr/>
        </p:nvSpPr>
        <p:spPr>
          <a:xfrm>
            <a:off x="3592711" y="7046238"/>
            <a:ext cx="4747736" cy="636984"/>
          </a:xfrm>
          <a:prstGeom prst="rect">
            <a:avLst/>
          </a:prstGeom>
          <a:noFill/>
          <a:ln/>
        </p:spPr>
        <p:txBody>
          <a:bodyPr wrap="square" lIns="0" tIns="0" rIns="0" bIns="0" rtlCol="0" anchor="t"/>
          <a:lstStyle/>
          <a:p>
            <a:pPr algn="ctr" indent="0" marL="0">
              <a:lnSpc>
                <a:spcPts val="2500"/>
              </a:lnSpc>
              <a:buNone/>
            </a:pPr>
            <a:r>
              <a:rPr lang="en-US" sz="1550" dirty="0">
                <a:solidFill>
                  <a:srgbClr val="DAD1E6"/>
                </a:solidFill>
                <a:latin typeface="Fira Sans" pitchFamily="34" charset="0"/>
                <a:ea typeface="Fira Sans" pitchFamily="34" charset="-122"/>
                <a:cs typeface="Fira Sans" pitchFamily="34" charset="-120"/>
              </a:rPr>
              <a:t>Upload documents and let the AI summarizer extract key points.</a:t>
            </a:r>
            <a:endParaRPr lang="en-US" sz="1550" dirty="0"/>
          </a:p>
        </p:txBody>
      </p:sp>
      <p:sp>
        <p:nvSpPr>
          <p:cNvPr id="15" name="Shape 12"/>
          <p:cNvSpPr/>
          <p:nvPr/>
        </p:nvSpPr>
        <p:spPr>
          <a:xfrm>
            <a:off x="8652153" y="5222617"/>
            <a:ext cx="22860" cy="597098"/>
          </a:xfrm>
          <a:prstGeom prst="roundRect">
            <a:avLst>
              <a:gd name="adj" fmla="val 130619"/>
            </a:avLst>
          </a:prstGeom>
          <a:solidFill>
            <a:srgbClr val="5C4E69"/>
          </a:solidFill>
          <a:ln/>
        </p:spPr>
      </p:sp>
      <p:sp>
        <p:nvSpPr>
          <p:cNvPr id="16" name="Shape 13"/>
          <p:cNvSpPr/>
          <p:nvPr/>
        </p:nvSpPr>
        <p:spPr>
          <a:xfrm>
            <a:off x="8439745" y="5595759"/>
            <a:ext cx="447794" cy="447794"/>
          </a:xfrm>
          <a:prstGeom prst="roundRect">
            <a:avLst>
              <a:gd name="adj" fmla="val 6668"/>
            </a:avLst>
          </a:prstGeom>
          <a:solidFill>
            <a:srgbClr val="433550"/>
          </a:solidFill>
          <a:ln/>
        </p:spPr>
      </p:sp>
      <p:sp>
        <p:nvSpPr>
          <p:cNvPr id="17" name="Text 14"/>
          <p:cNvSpPr/>
          <p:nvPr/>
        </p:nvSpPr>
        <p:spPr>
          <a:xfrm>
            <a:off x="8514338"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DAD1E6"/>
                </a:solidFill>
                <a:latin typeface="Inconsolata Bold" pitchFamily="34" charset="0"/>
                <a:ea typeface="Inconsolata Bold" pitchFamily="34" charset="-122"/>
                <a:cs typeface="Inconsolata Bold" pitchFamily="34" charset="-120"/>
              </a:rPr>
              <a:t>3</a:t>
            </a:r>
            <a:endParaRPr lang="en-US" sz="2350" dirty="0"/>
          </a:p>
        </p:txBody>
      </p:sp>
      <p:sp>
        <p:nvSpPr>
          <p:cNvPr id="18" name="Text 15"/>
          <p:cNvSpPr/>
          <p:nvPr/>
        </p:nvSpPr>
        <p:spPr>
          <a:xfrm>
            <a:off x="7419618" y="3956090"/>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Practice</a:t>
            </a:r>
            <a:endParaRPr lang="en-US" sz="1950" dirty="0"/>
          </a:p>
        </p:txBody>
      </p:sp>
      <p:sp>
        <p:nvSpPr>
          <p:cNvPr id="19" name="Text 16"/>
          <p:cNvSpPr/>
          <p:nvPr/>
        </p:nvSpPr>
        <p:spPr>
          <a:xfrm>
            <a:off x="6289834" y="4386501"/>
            <a:ext cx="4747736" cy="636984"/>
          </a:xfrm>
          <a:prstGeom prst="rect">
            <a:avLst/>
          </a:prstGeom>
          <a:noFill/>
          <a:ln/>
        </p:spPr>
        <p:txBody>
          <a:bodyPr wrap="square" lIns="0" tIns="0" rIns="0" bIns="0" rtlCol="0" anchor="t"/>
          <a:lstStyle/>
          <a:p>
            <a:pPr algn="ctr" indent="0" marL="0">
              <a:lnSpc>
                <a:spcPts val="2500"/>
              </a:lnSpc>
              <a:buNone/>
            </a:pPr>
            <a:r>
              <a:rPr lang="en-US" sz="1550" dirty="0">
                <a:solidFill>
                  <a:srgbClr val="DAD1E6"/>
                </a:solidFill>
                <a:latin typeface="Fira Sans" pitchFamily="34" charset="0"/>
                <a:ea typeface="Fira Sans" pitchFamily="34" charset="-122"/>
                <a:cs typeface="Fira Sans" pitchFamily="34" charset="-120"/>
              </a:rPr>
              <a:t>Create flashcards and take quizzes to reinforce your understanding.</a:t>
            </a:r>
            <a:endParaRPr lang="en-US" sz="1550" dirty="0"/>
          </a:p>
        </p:txBody>
      </p:sp>
      <p:sp>
        <p:nvSpPr>
          <p:cNvPr id="20" name="Shape 17"/>
          <p:cNvSpPr/>
          <p:nvPr/>
        </p:nvSpPr>
        <p:spPr>
          <a:xfrm>
            <a:off x="11349395" y="5819596"/>
            <a:ext cx="22860" cy="597098"/>
          </a:xfrm>
          <a:prstGeom prst="roundRect">
            <a:avLst>
              <a:gd name="adj" fmla="val 130619"/>
            </a:avLst>
          </a:prstGeom>
          <a:solidFill>
            <a:srgbClr val="5C4E69"/>
          </a:solidFill>
          <a:ln/>
        </p:spPr>
      </p:sp>
      <p:sp>
        <p:nvSpPr>
          <p:cNvPr id="21" name="Shape 18"/>
          <p:cNvSpPr/>
          <p:nvPr/>
        </p:nvSpPr>
        <p:spPr>
          <a:xfrm>
            <a:off x="11136987" y="5595759"/>
            <a:ext cx="447794" cy="447794"/>
          </a:xfrm>
          <a:prstGeom prst="roundRect">
            <a:avLst>
              <a:gd name="adj" fmla="val 6668"/>
            </a:avLst>
          </a:prstGeom>
          <a:solidFill>
            <a:srgbClr val="433550"/>
          </a:solidFill>
          <a:ln/>
        </p:spPr>
      </p:sp>
      <p:sp>
        <p:nvSpPr>
          <p:cNvPr id="22" name="Text 19"/>
          <p:cNvSpPr/>
          <p:nvPr/>
        </p:nvSpPr>
        <p:spPr>
          <a:xfrm>
            <a:off x="11211580" y="5633025"/>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DAD1E6"/>
                </a:solidFill>
                <a:latin typeface="Inconsolata Bold" pitchFamily="34" charset="0"/>
                <a:ea typeface="Inconsolata Bold" pitchFamily="34" charset="-122"/>
                <a:cs typeface="Inconsolata Bold" pitchFamily="34" charset="-120"/>
              </a:rPr>
              <a:t>4</a:t>
            </a:r>
            <a:endParaRPr lang="en-US" sz="2350" dirty="0"/>
          </a:p>
        </p:txBody>
      </p:sp>
      <p:sp>
        <p:nvSpPr>
          <p:cNvPr id="23" name="Text 20"/>
          <p:cNvSpPr/>
          <p:nvPr/>
        </p:nvSpPr>
        <p:spPr>
          <a:xfrm>
            <a:off x="10116860" y="6615827"/>
            <a:ext cx="2488168" cy="310991"/>
          </a:xfrm>
          <a:prstGeom prst="rect">
            <a:avLst/>
          </a:prstGeom>
          <a:noFill/>
          <a:ln/>
        </p:spPr>
        <p:txBody>
          <a:bodyPr wrap="none" lIns="0" tIns="0" rIns="0" bIns="0" rtlCol="0" anchor="t"/>
          <a:lstStyle/>
          <a:p>
            <a:pPr algn="ctr" indent="0" marL="0">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Optimize</a:t>
            </a:r>
            <a:endParaRPr lang="en-US" sz="1950" dirty="0"/>
          </a:p>
        </p:txBody>
      </p:sp>
      <p:sp>
        <p:nvSpPr>
          <p:cNvPr id="24" name="Text 21"/>
          <p:cNvSpPr/>
          <p:nvPr/>
        </p:nvSpPr>
        <p:spPr>
          <a:xfrm>
            <a:off x="8987076" y="7046238"/>
            <a:ext cx="4747736" cy="636984"/>
          </a:xfrm>
          <a:prstGeom prst="rect">
            <a:avLst/>
          </a:prstGeom>
          <a:noFill/>
          <a:ln/>
        </p:spPr>
        <p:txBody>
          <a:bodyPr wrap="square" lIns="0" tIns="0" rIns="0" bIns="0" rtlCol="0" anchor="t"/>
          <a:lstStyle/>
          <a:p>
            <a:pPr algn="ctr" indent="0" marL="0">
              <a:lnSpc>
                <a:spcPts val="2500"/>
              </a:lnSpc>
              <a:buNone/>
            </a:pPr>
            <a:r>
              <a:rPr lang="en-US" sz="1550" dirty="0">
                <a:solidFill>
                  <a:srgbClr val="DAD1E6"/>
                </a:solidFill>
                <a:latin typeface="Fira Sans" pitchFamily="34" charset="0"/>
                <a:ea typeface="Fira Sans" pitchFamily="34" charset="-122"/>
                <a:cs typeface="Fira Sans" pitchFamily="34" charset="-120"/>
              </a:rPr>
              <a:t>Receive personalized reminders and track your progress over time.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81011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Challenges</a:t>
            </a:r>
            <a:endParaRPr lang="en-US" sz="4450" dirty="0"/>
          </a:p>
        </p:txBody>
      </p:sp>
      <p:sp>
        <p:nvSpPr>
          <p:cNvPr id="4" name="Shape 1"/>
          <p:cNvSpPr/>
          <p:nvPr/>
        </p:nvSpPr>
        <p:spPr>
          <a:xfrm>
            <a:off x="793790" y="4859060"/>
            <a:ext cx="4196358" cy="2395657"/>
          </a:xfrm>
          <a:prstGeom prst="roundRect">
            <a:avLst>
              <a:gd name="adj" fmla="val 1420"/>
            </a:avLst>
          </a:prstGeom>
          <a:solidFill>
            <a:srgbClr val="433550"/>
          </a:solidFill>
          <a:ln/>
        </p:spPr>
      </p:sp>
      <p:sp>
        <p:nvSpPr>
          <p:cNvPr id="5" name="Text 2"/>
          <p:cNvSpPr/>
          <p:nvPr/>
        </p:nvSpPr>
        <p:spPr>
          <a:xfrm>
            <a:off x="1020604" y="508587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Data Privacy</a:t>
            </a:r>
            <a:endParaRPr lang="en-US" sz="2200" dirty="0"/>
          </a:p>
        </p:txBody>
      </p:sp>
      <p:sp>
        <p:nvSpPr>
          <p:cNvPr id="6" name="Text 3"/>
          <p:cNvSpPr/>
          <p:nvPr/>
        </p:nvSpPr>
        <p:spPr>
          <a:xfrm>
            <a:off x="1020604" y="5576292"/>
            <a:ext cx="3742730"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Ensuring the secure handling and storage of user data, including study materials and personal information.</a:t>
            </a:r>
            <a:endParaRPr lang="en-US" sz="1750" dirty="0"/>
          </a:p>
        </p:txBody>
      </p:sp>
      <p:sp>
        <p:nvSpPr>
          <p:cNvPr id="7" name="Shape 4"/>
          <p:cNvSpPr/>
          <p:nvPr/>
        </p:nvSpPr>
        <p:spPr>
          <a:xfrm>
            <a:off x="5216962" y="4859060"/>
            <a:ext cx="4196358" cy="2395657"/>
          </a:xfrm>
          <a:prstGeom prst="roundRect">
            <a:avLst>
              <a:gd name="adj" fmla="val 1420"/>
            </a:avLst>
          </a:prstGeom>
          <a:solidFill>
            <a:srgbClr val="433550"/>
          </a:solidFill>
          <a:ln/>
        </p:spPr>
      </p:sp>
      <p:sp>
        <p:nvSpPr>
          <p:cNvPr id="8" name="Text 5"/>
          <p:cNvSpPr/>
          <p:nvPr/>
        </p:nvSpPr>
        <p:spPr>
          <a:xfrm>
            <a:off x="5443776" y="508587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AI Limitations</a:t>
            </a:r>
            <a:endParaRPr lang="en-US" sz="2200" dirty="0"/>
          </a:p>
        </p:txBody>
      </p:sp>
      <p:sp>
        <p:nvSpPr>
          <p:cNvPr id="9" name="Text 6"/>
          <p:cNvSpPr/>
          <p:nvPr/>
        </p:nvSpPr>
        <p:spPr>
          <a:xfrm>
            <a:off x="5443776" y="5576292"/>
            <a:ext cx="3742730"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Addressing the potential limitations and biases inherent in the AI-powered features, such as the summarizer.</a:t>
            </a:r>
            <a:endParaRPr lang="en-US" sz="1750" dirty="0"/>
          </a:p>
        </p:txBody>
      </p:sp>
      <p:sp>
        <p:nvSpPr>
          <p:cNvPr id="10" name="Shape 7"/>
          <p:cNvSpPr/>
          <p:nvPr/>
        </p:nvSpPr>
        <p:spPr>
          <a:xfrm>
            <a:off x="9640133" y="4859060"/>
            <a:ext cx="4196358" cy="2395657"/>
          </a:xfrm>
          <a:prstGeom prst="roundRect">
            <a:avLst>
              <a:gd name="adj" fmla="val 1420"/>
            </a:avLst>
          </a:prstGeom>
          <a:solidFill>
            <a:srgbClr val="433550"/>
          </a:solidFill>
          <a:ln/>
        </p:spPr>
      </p:sp>
      <p:sp>
        <p:nvSpPr>
          <p:cNvPr id="11" name="Text 8"/>
          <p:cNvSpPr/>
          <p:nvPr/>
        </p:nvSpPr>
        <p:spPr>
          <a:xfrm>
            <a:off x="9866948" y="508587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User Adoption</a:t>
            </a:r>
            <a:endParaRPr lang="en-US" sz="2200" dirty="0"/>
          </a:p>
        </p:txBody>
      </p:sp>
      <p:sp>
        <p:nvSpPr>
          <p:cNvPr id="12" name="Text 9"/>
          <p:cNvSpPr/>
          <p:nvPr/>
        </p:nvSpPr>
        <p:spPr>
          <a:xfrm>
            <a:off x="9866948" y="5576292"/>
            <a:ext cx="3742730"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Encouraging widespread adoption of the platform among students and educators, who may be resistant to change.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97214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Future Enhancements</a:t>
            </a:r>
            <a:endParaRPr lang="en-US" sz="4450" dirty="0"/>
          </a:p>
        </p:txBody>
      </p:sp>
      <p:pic>
        <p:nvPicPr>
          <p:cNvPr id="3" name="Image 0" descr="preencoded.png">    </p:cNvPr>
          <p:cNvPicPr>
            <a:picLocks noChangeAspect="1"/>
          </p:cNvPicPr>
          <p:nvPr/>
        </p:nvPicPr>
        <p:blipFill>
          <a:blip r:embed="rId1"/>
          <a:stretch>
            <a:fillRect/>
          </a:stretch>
        </p:blipFill>
        <p:spPr>
          <a:xfrm>
            <a:off x="2978348" y="2134553"/>
            <a:ext cx="2152055" cy="1669852"/>
          </a:xfrm>
          <a:prstGeom prst="rect">
            <a:avLst/>
          </a:prstGeom>
        </p:spPr>
      </p:pic>
      <p:pic>
        <p:nvPicPr>
          <p:cNvPr id="4" name="Image 1" descr="preencoded.png">    </p:cNvPr>
          <p:cNvPicPr>
            <a:picLocks noChangeAspect="1"/>
          </p:cNvPicPr>
          <p:nvPr/>
        </p:nvPicPr>
        <p:blipFill>
          <a:blip r:embed="rId2"/>
          <a:stretch>
            <a:fillRect/>
          </a:stretch>
        </p:blipFill>
        <p:spPr>
          <a:xfrm>
            <a:off x="3894892" y="2986564"/>
            <a:ext cx="318968" cy="398621"/>
          </a:xfrm>
          <a:prstGeom prst="rect">
            <a:avLst/>
          </a:prstGeom>
        </p:spPr>
      </p:pic>
      <p:sp>
        <p:nvSpPr>
          <p:cNvPr id="5" name="Text 1"/>
          <p:cNvSpPr/>
          <p:nvPr/>
        </p:nvSpPr>
        <p:spPr>
          <a:xfrm>
            <a:off x="5357217" y="236136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Adaptive Learning</a:t>
            </a:r>
            <a:endParaRPr lang="en-US" sz="2200" dirty="0"/>
          </a:p>
        </p:txBody>
      </p:sp>
      <p:sp>
        <p:nvSpPr>
          <p:cNvPr id="6" name="Text 2"/>
          <p:cNvSpPr/>
          <p:nvPr/>
        </p:nvSpPr>
        <p:spPr>
          <a:xfrm>
            <a:off x="5357217" y="2851785"/>
            <a:ext cx="8252579"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Develop advanced AI algorithms to create truly personalized learning experiences.</a:t>
            </a:r>
            <a:endParaRPr lang="en-US" sz="1750" dirty="0"/>
          </a:p>
        </p:txBody>
      </p:sp>
      <p:sp>
        <p:nvSpPr>
          <p:cNvPr id="7" name="Shape 3"/>
          <p:cNvSpPr/>
          <p:nvPr/>
        </p:nvSpPr>
        <p:spPr>
          <a:xfrm>
            <a:off x="5187077" y="3817501"/>
            <a:ext cx="8592860" cy="15240"/>
          </a:xfrm>
          <a:prstGeom prst="roundRect">
            <a:avLst>
              <a:gd name="adj" fmla="val 223256"/>
            </a:avLst>
          </a:prstGeom>
          <a:solidFill>
            <a:srgbClr val="5C4E69"/>
          </a:solidFill>
          <a:ln/>
        </p:spPr>
      </p:sp>
      <p:pic>
        <p:nvPicPr>
          <p:cNvPr id="8" name="Image 2" descr="preencoded.png">    </p:cNvPr>
          <p:cNvPicPr>
            <a:picLocks noChangeAspect="1"/>
          </p:cNvPicPr>
          <p:nvPr/>
        </p:nvPicPr>
        <p:blipFill>
          <a:blip r:embed="rId3"/>
          <a:stretch>
            <a:fillRect/>
          </a:stretch>
        </p:blipFill>
        <p:spPr>
          <a:xfrm>
            <a:off x="1902381" y="3861078"/>
            <a:ext cx="4304109" cy="1669852"/>
          </a:xfrm>
          <a:prstGeom prst="rect">
            <a:avLst/>
          </a:prstGeom>
        </p:spPr>
      </p:pic>
      <p:pic>
        <p:nvPicPr>
          <p:cNvPr id="9" name="Image 3" descr="preencoded.png">    </p:cNvPr>
          <p:cNvPicPr>
            <a:picLocks noChangeAspect="1"/>
          </p:cNvPicPr>
          <p:nvPr/>
        </p:nvPicPr>
        <p:blipFill>
          <a:blip r:embed="rId4"/>
          <a:stretch>
            <a:fillRect/>
          </a:stretch>
        </p:blipFill>
        <p:spPr>
          <a:xfrm>
            <a:off x="3894892" y="4496633"/>
            <a:ext cx="318968" cy="398621"/>
          </a:xfrm>
          <a:prstGeom prst="rect">
            <a:avLst/>
          </a:prstGeom>
        </p:spPr>
      </p:pic>
      <p:sp>
        <p:nvSpPr>
          <p:cNvPr id="10" name="Text 4"/>
          <p:cNvSpPr/>
          <p:nvPr/>
        </p:nvSpPr>
        <p:spPr>
          <a:xfrm>
            <a:off x="6433304" y="4087892"/>
            <a:ext cx="311717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Collaborative Features</a:t>
            </a:r>
            <a:endParaRPr lang="en-US" sz="2200" dirty="0"/>
          </a:p>
        </p:txBody>
      </p:sp>
      <p:sp>
        <p:nvSpPr>
          <p:cNvPr id="11" name="Text 5"/>
          <p:cNvSpPr/>
          <p:nvPr/>
        </p:nvSpPr>
        <p:spPr>
          <a:xfrm>
            <a:off x="6433304" y="4578310"/>
            <a:ext cx="7176492"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Introduce tools for students to study and work together, fostering a sense of community.</a:t>
            </a:r>
            <a:endParaRPr lang="en-US" sz="1750" dirty="0"/>
          </a:p>
        </p:txBody>
      </p:sp>
      <p:sp>
        <p:nvSpPr>
          <p:cNvPr id="12" name="Shape 6"/>
          <p:cNvSpPr/>
          <p:nvPr/>
        </p:nvSpPr>
        <p:spPr>
          <a:xfrm>
            <a:off x="6263164" y="5544026"/>
            <a:ext cx="7516773" cy="15240"/>
          </a:xfrm>
          <a:prstGeom prst="roundRect">
            <a:avLst>
              <a:gd name="adj" fmla="val 223256"/>
            </a:avLst>
          </a:prstGeom>
          <a:solidFill>
            <a:srgbClr val="5C4E69"/>
          </a:solidFill>
          <a:ln/>
        </p:spPr>
      </p:sp>
      <p:pic>
        <p:nvPicPr>
          <p:cNvPr id="13" name="Image 4" descr="preencoded.png">    </p:cNvPr>
          <p:cNvPicPr>
            <a:picLocks noChangeAspect="1"/>
          </p:cNvPicPr>
          <p:nvPr/>
        </p:nvPicPr>
        <p:blipFill>
          <a:blip r:embed="rId5"/>
          <a:stretch>
            <a:fillRect/>
          </a:stretch>
        </p:blipFill>
        <p:spPr>
          <a:xfrm>
            <a:off x="826294" y="5587603"/>
            <a:ext cx="6456164" cy="1669852"/>
          </a:xfrm>
          <a:prstGeom prst="rect">
            <a:avLst/>
          </a:prstGeom>
        </p:spPr>
      </p:pic>
      <p:pic>
        <p:nvPicPr>
          <p:cNvPr id="14" name="Image 5" descr="preencoded.png">    </p:cNvPr>
          <p:cNvPicPr>
            <a:picLocks noChangeAspect="1"/>
          </p:cNvPicPr>
          <p:nvPr/>
        </p:nvPicPr>
        <p:blipFill>
          <a:blip r:embed="rId6"/>
          <a:stretch>
            <a:fillRect/>
          </a:stretch>
        </p:blipFill>
        <p:spPr>
          <a:xfrm>
            <a:off x="3894773" y="6223159"/>
            <a:ext cx="318968" cy="398621"/>
          </a:xfrm>
          <a:prstGeom prst="rect">
            <a:avLst/>
          </a:prstGeom>
        </p:spPr>
      </p:pic>
      <p:sp>
        <p:nvSpPr>
          <p:cNvPr id="15" name="Text 7"/>
          <p:cNvSpPr/>
          <p:nvPr/>
        </p:nvSpPr>
        <p:spPr>
          <a:xfrm>
            <a:off x="7509272" y="58144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Predictive Analytics</a:t>
            </a:r>
            <a:endParaRPr lang="en-US" sz="2200" dirty="0"/>
          </a:p>
        </p:txBody>
      </p:sp>
      <p:sp>
        <p:nvSpPr>
          <p:cNvPr id="16" name="Text 8"/>
          <p:cNvSpPr/>
          <p:nvPr/>
        </p:nvSpPr>
        <p:spPr>
          <a:xfrm>
            <a:off x="7509272" y="6304836"/>
            <a:ext cx="6100524"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Leverage data insights to provide proactive recommendations and identify at-risk students.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86452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Conclusion</a:t>
            </a:r>
            <a:endParaRPr lang="en-US" sz="4450" dirty="0"/>
          </a:p>
        </p:txBody>
      </p:sp>
      <p:sp>
        <p:nvSpPr>
          <p:cNvPr id="4" name="Text 1"/>
          <p:cNvSpPr/>
          <p:nvPr/>
        </p:nvSpPr>
        <p:spPr>
          <a:xfrm>
            <a:off x="6280190" y="391346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StudyGenius is poised to revolutionize the way students approach learning and academic success. By harnessing the power of AI and cutting-edge technology, we aim to empower learners, enhance productivity, and unlock new heights of academic achievement.</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2893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Thank You</a:t>
            </a:r>
            <a:endParaRPr lang="en-US" sz="4450" dirty="0"/>
          </a:p>
        </p:txBody>
      </p:sp>
      <p:sp>
        <p:nvSpPr>
          <p:cNvPr id="3" name="Text 1"/>
          <p:cNvSpPr/>
          <p:nvPr/>
        </p:nvSpPr>
        <p:spPr>
          <a:xfrm>
            <a:off x="793790" y="309133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We would like to extend our sincere appreciation to the entire team for their hard work and dedication in bringing StudyGenius to life. This project was a collaborative effort, and we are especially grateful for the following key contributions:</a:t>
            </a:r>
            <a:endParaRPr lang="en-US" sz="1750" dirty="0"/>
          </a:p>
        </p:txBody>
      </p:sp>
      <p:sp>
        <p:nvSpPr>
          <p:cNvPr id="4" name="Text 2"/>
          <p:cNvSpPr/>
          <p:nvPr/>
        </p:nvSpPr>
        <p:spPr>
          <a:xfrm>
            <a:off x="793790" y="4072295"/>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DAD1E6"/>
                </a:solidFill>
                <a:latin typeface="Fira Sans" pitchFamily="34" charset="0"/>
                <a:ea typeface="Fira Sans" pitchFamily="34" charset="-122"/>
                <a:cs typeface="Fira Sans" pitchFamily="34" charset="-120"/>
              </a:rPr>
              <a:t>Arpit Raj (RA2311031010114)</a:t>
            </a:r>
            <a:endParaRPr lang="en-US" sz="1750" dirty="0"/>
          </a:p>
        </p:txBody>
      </p:sp>
      <p:sp>
        <p:nvSpPr>
          <p:cNvPr id="5" name="Text 3"/>
          <p:cNvSpPr/>
          <p:nvPr/>
        </p:nvSpPr>
        <p:spPr>
          <a:xfrm>
            <a:off x="793790" y="4514493"/>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DAD1E6"/>
                </a:solidFill>
                <a:latin typeface="Fira Sans" pitchFamily="34" charset="0"/>
                <a:ea typeface="Fira Sans" pitchFamily="34" charset="-122"/>
                <a:cs typeface="Fira Sans" pitchFamily="34" charset="-120"/>
              </a:rPr>
              <a:t>Raushan Kumar (RA2311031010126)</a:t>
            </a:r>
            <a:endParaRPr lang="en-US" sz="1750" dirty="0"/>
          </a:p>
        </p:txBody>
      </p:sp>
      <p:sp>
        <p:nvSpPr>
          <p:cNvPr id="6" name="Text 4"/>
          <p:cNvSpPr/>
          <p:nvPr/>
        </p:nvSpPr>
        <p:spPr>
          <a:xfrm>
            <a:off x="793790" y="495669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DAD1E6"/>
                </a:solidFill>
                <a:latin typeface="Fira Sans" pitchFamily="34" charset="0"/>
                <a:ea typeface="Fira Sans" pitchFamily="34" charset="-122"/>
                <a:cs typeface="Fira Sans" pitchFamily="34" charset="-120"/>
              </a:rPr>
              <a:t>Ishan Singh (RA2311031010130)</a:t>
            </a:r>
            <a:endParaRPr lang="en-US" sz="1750" dirty="0"/>
          </a:p>
        </p:txBody>
      </p:sp>
      <p:sp>
        <p:nvSpPr>
          <p:cNvPr id="7" name="Text 5"/>
          <p:cNvSpPr/>
          <p:nvPr/>
        </p:nvSpPr>
        <p:spPr>
          <a:xfrm>
            <a:off x="793790" y="557474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Together, this team worked tirelessly to bring this project to life, and we are deeply grateful for their hard work, dedication, and collaborative spirit.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2025-05-01T19:10:15Z</dcterms:created>
  <dcterms:modified xsi:type="dcterms:W3CDTF">2025-05-01T19:10:15Z</dcterms:modified>
</cp:coreProperties>
</file>