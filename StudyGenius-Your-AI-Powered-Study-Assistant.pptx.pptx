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Bold" charset="1" panose="020B0704020202020204"/>
      <p:regular r:id="rId20"/>
    </p:embeddedFont>
    <p:embeddedFont>
      <p:font typeface="Fira Sans" charset="1" panose="020B0503050000020004"/>
      <p:regular r:id="rId21"/>
    </p:embeddedFont>
    <p:embeddedFont>
      <p:font typeface="Fira Sans Bold" charset="1" panose="020B0803050000020004"/>
      <p:regular r:id="rId32"/>
    </p:embeddedFont>
    <p:embeddedFont>
      <p:font typeface="Calibri (MS)" charset="1" panose="020F050202020403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30" Target="notesSlides/notesSlide10.xml" Type="http://schemas.openxmlformats.org/officeDocument/2006/relationships/notesSlide"/><Relationship Id="rId31" Target="notesSlides/notesSlide11.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Arpit Raj was the project lead, responsible for coordinating the team and ensuring timely delivery of all milestones.</a:t>
            </a:r>
          </a:p>
          <a:p>
            <a:r>
              <a:rPr lang="en-US"/>
              <a:t/>
            </a:r>
          </a:p>
          <a:p>
            <a:r>
              <a:rPr lang="en-US"/>
              <a:t>• Raushan Kumar was the lead developer, who wrote the core functionality and implemented the technical architecture.</a:t>
            </a:r>
          </a:p>
          <a:p>
            <a:r>
              <a:rPr lang="en-US"/>
              <a:t/>
            </a:r>
          </a:p>
          <a:p>
            <a:r>
              <a:rPr lang="en-US"/>
              <a:t>• Ishan Singh was the UI/UX designer, who created the visually appealing and intuitive interface for our application.</a:t>
            </a:r>
          </a:p>
          <a:p>
            <a:r>
              <a:rPr lang="en-US"/>
              <a:t/>
            </a:r>
          </a:p>
          <a:p>
            <a:r>
              <a:rPr lang="en-US"/>
              <a:t>• Together, this team worked tirelessly to bring this project to life, and we are grateful for their hard work and dedication.</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grpSp>
        <p:nvGrpSpPr>
          <p:cNvPr name="Group 8" id="8"/>
          <p:cNvGrpSpPr/>
          <p:nvPr/>
        </p:nvGrpSpPr>
        <p:grpSpPr>
          <a:xfrm rot="0">
            <a:off x="992238" y="3364409"/>
            <a:ext cx="9445526" cy="1771947"/>
            <a:chOff x="0" y="0"/>
            <a:chExt cx="12594035" cy="2362597"/>
          </a:xfrm>
        </p:grpSpPr>
        <p:sp>
          <p:nvSpPr>
            <p:cNvPr name="Freeform 9" id="9"/>
            <p:cNvSpPr/>
            <p:nvPr/>
          </p:nvSpPr>
          <p:spPr>
            <a:xfrm flipH="false" flipV="false" rot="0">
              <a:off x="0" y="0"/>
              <a:ext cx="12594035" cy="2362597"/>
            </a:xfrm>
            <a:custGeom>
              <a:avLst/>
              <a:gdLst/>
              <a:ahLst/>
              <a:cxnLst/>
              <a:rect r="r" b="b" t="t" l="l"/>
              <a:pathLst>
                <a:path h="2362597" w="12594035">
                  <a:moveTo>
                    <a:pt x="0" y="0"/>
                  </a:moveTo>
                  <a:lnTo>
                    <a:pt x="12594035" y="0"/>
                  </a:lnTo>
                  <a:lnTo>
                    <a:pt x="12594035" y="2362597"/>
                  </a:lnTo>
                  <a:lnTo>
                    <a:pt x="0" y="2362597"/>
                  </a:lnTo>
                  <a:close/>
                </a:path>
              </a:pathLst>
            </a:custGeom>
            <a:solidFill>
              <a:srgbClr val="000000">
                <a:alpha val="0"/>
              </a:srgbClr>
            </a:solidFill>
          </p:spPr>
        </p:sp>
        <p:sp>
          <p:nvSpPr>
            <p:cNvPr name="TextBox 10" id="10"/>
            <p:cNvSpPr txBox="true"/>
            <p:nvPr/>
          </p:nvSpPr>
          <p:spPr>
            <a:xfrm>
              <a:off x="0" y="-57150"/>
              <a:ext cx="12594035" cy="2419747"/>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StudyGenius – Your AI-Powered Study Assistant</a:t>
              </a:r>
            </a:p>
          </p:txBody>
        </p:sp>
      </p:grpSp>
      <p:grpSp>
        <p:nvGrpSpPr>
          <p:cNvPr name="Group 11" id="11"/>
          <p:cNvGrpSpPr/>
          <p:nvPr/>
        </p:nvGrpSpPr>
        <p:grpSpPr>
          <a:xfrm rot="0">
            <a:off x="992238" y="5561559"/>
            <a:ext cx="9445526" cy="1360885"/>
            <a:chOff x="0" y="0"/>
            <a:chExt cx="12594035" cy="1814513"/>
          </a:xfrm>
        </p:grpSpPr>
        <p:sp>
          <p:nvSpPr>
            <p:cNvPr name="Freeform 12" id="12"/>
            <p:cNvSpPr/>
            <p:nvPr/>
          </p:nvSpPr>
          <p:spPr>
            <a:xfrm flipH="false" flipV="false" rot="0">
              <a:off x="0" y="0"/>
              <a:ext cx="12594035" cy="1814513"/>
            </a:xfrm>
            <a:custGeom>
              <a:avLst/>
              <a:gdLst/>
              <a:ahLst/>
              <a:cxnLst/>
              <a:rect r="r" b="b" t="t" l="l"/>
              <a:pathLst>
                <a:path h="1814513" w="12594035">
                  <a:moveTo>
                    <a:pt x="0" y="0"/>
                  </a:moveTo>
                  <a:lnTo>
                    <a:pt x="12594035" y="0"/>
                  </a:lnTo>
                  <a:lnTo>
                    <a:pt x="12594035" y="1814513"/>
                  </a:lnTo>
                  <a:lnTo>
                    <a:pt x="0" y="1814513"/>
                  </a:lnTo>
                  <a:close/>
                </a:path>
              </a:pathLst>
            </a:custGeom>
            <a:solidFill>
              <a:srgbClr val="000000">
                <a:alpha val="0"/>
              </a:srgbClr>
            </a:solidFill>
          </p:spPr>
        </p:sp>
        <p:sp>
          <p:nvSpPr>
            <p:cNvPr name="TextBox 13" id="13"/>
            <p:cNvSpPr txBox="true"/>
            <p:nvPr/>
          </p:nvSpPr>
          <p:spPr>
            <a:xfrm>
              <a:off x="0" y="-95250"/>
              <a:ext cx="12594035" cy="1909763"/>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Introducing StudyGenius, the ultimate AI-powered study companion designed to revolutionize the way you approach learning and academic success.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grpSp>
        <p:nvGrpSpPr>
          <p:cNvPr name="Group 8" id="8"/>
          <p:cNvGrpSpPr/>
          <p:nvPr/>
        </p:nvGrpSpPr>
        <p:grpSpPr>
          <a:xfrm rot="0">
            <a:off x="992238" y="3580656"/>
            <a:ext cx="7088237" cy="885974"/>
            <a:chOff x="0" y="0"/>
            <a:chExt cx="9450983" cy="1181298"/>
          </a:xfrm>
        </p:grpSpPr>
        <p:sp>
          <p:nvSpPr>
            <p:cNvPr name="Freeform 9" id="9"/>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10" id="10"/>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Problem Statement</a:t>
              </a:r>
            </a:p>
          </p:txBody>
        </p:sp>
      </p:grpSp>
      <p:grpSp>
        <p:nvGrpSpPr>
          <p:cNvPr name="Group 11" id="11"/>
          <p:cNvGrpSpPr/>
          <p:nvPr/>
        </p:nvGrpSpPr>
        <p:grpSpPr>
          <a:xfrm rot="0">
            <a:off x="992238" y="4891831"/>
            <a:ext cx="9445526" cy="1814512"/>
            <a:chOff x="0" y="0"/>
            <a:chExt cx="12594035" cy="2419350"/>
          </a:xfrm>
        </p:grpSpPr>
        <p:sp>
          <p:nvSpPr>
            <p:cNvPr name="Freeform 12" id="12"/>
            <p:cNvSpPr/>
            <p:nvPr/>
          </p:nvSpPr>
          <p:spPr>
            <a:xfrm flipH="false" flipV="false" rot="0">
              <a:off x="0" y="0"/>
              <a:ext cx="12594035" cy="2419350"/>
            </a:xfrm>
            <a:custGeom>
              <a:avLst/>
              <a:gdLst/>
              <a:ahLst/>
              <a:cxnLst/>
              <a:rect r="r" b="b" t="t" l="l"/>
              <a:pathLst>
                <a:path h="2419350" w="12594035">
                  <a:moveTo>
                    <a:pt x="0" y="0"/>
                  </a:moveTo>
                  <a:lnTo>
                    <a:pt x="12594035" y="0"/>
                  </a:lnTo>
                  <a:lnTo>
                    <a:pt x="12594035" y="2419350"/>
                  </a:lnTo>
                  <a:lnTo>
                    <a:pt x="0" y="2419350"/>
                  </a:lnTo>
                  <a:close/>
                </a:path>
              </a:pathLst>
            </a:custGeom>
            <a:solidFill>
              <a:srgbClr val="000000">
                <a:alpha val="0"/>
              </a:srgbClr>
            </a:solidFill>
          </p:spPr>
        </p:sp>
        <p:sp>
          <p:nvSpPr>
            <p:cNvPr name="TextBox 13" id="13"/>
            <p:cNvSpPr txBox="true"/>
            <p:nvPr/>
          </p:nvSpPr>
          <p:spPr>
            <a:xfrm>
              <a:off x="0" y="-95250"/>
              <a:ext cx="12594035" cy="2514600"/>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Students today face a myriad of challenges when it comes to effectively managing their studies. From information overload to time-management issues, the traditional study methods often fall short in addressing the modern learner's needs.</a:t>
              </a: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grpSp>
        <p:nvGrpSpPr>
          <p:cNvPr name="Group 6" id="6"/>
          <p:cNvGrpSpPr/>
          <p:nvPr/>
        </p:nvGrpSpPr>
        <p:grpSpPr>
          <a:xfrm rot="0">
            <a:off x="992238" y="3174950"/>
            <a:ext cx="7088237" cy="885974"/>
            <a:chOff x="0" y="0"/>
            <a:chExt cx="9450983" cy="1181298"/>
          </a:xfrm>
        </p:grpSpPr>
        <p:sp>
          <p:nvSpPr>
            <p:cNvPr name="Freeform 7" id="7"/>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8" id="8"/>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Objectives</a:t>
              </a:r>
            </a:p>
          </p:txBody>
        </p:sp>
      </p:grpSp>
      <p:grpSp>
        <p:nvGrpSpPr>
          <p:cNvPr name="Group 9" id="9"/>
          <p:cNvGrpSpPr/>
          <p:nvPr/>
        </p:nvGrpSpPr>
        <p:grpSpPr>
          <a:xfrm rot="0">
            <a:off x="992238" y="4769644"/>
            <a:ext cx="3544044" cy="442912"/>
            <a:chOff x="0" y="0"/>
            <a:chExt cx="4725392" cy="590550"/>
          </a:xfrm>
        </p:grpSpPr>
        <p:sp>
          <p:nvSpPr>
            <p:cNvPr name="Freeform 10" id="10"/>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11" id="11"/>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F94CAF"/>
                  </a:solidFill>
                  <a:latin typeface="Arimo Bold"/>
                  <a:ea typeface="Arimo Bold"/>
                  <a:cs typeface="Arimo Bold"/>
                  <a:sym typeface="Arimo Bold"/>
                </a:rPr>
                <a:t>Streamline Learning</a:t>
              </a:r>
            </a:p>
          </p:txBody>
        </p:sp>
      </p:grpSp>
      <p:grpSp>
        <p:nvGrpSpPr>
          <p:cNvPr name="Group 12" id="12"/>
          <p:cNvGrpSpPr/>
          <p:nvPr/>
        </p:nvGrpSpPr>
        <p:grpSpPr>
          <a:xfrm rot="0">
            <a:off x="992238" y="5496074"/>
            <a:ext cx="4972645" cy="1360885"/>
            <a:chOff x="0" y="0"/>
            <a:chExt cx="6630193" cy="1814513"/>
          </a:xfrm>
        </p:grpSpPr>
        <p:sp>
          <p:nvSpPr>
            <p:cNvPr name="Freeform 13" id="13"/>
            <p:cNvSpPr/>
            <p:nvPr/>
          </p:nvSpPr>
          <p:spPr>
            <a:xfrm flipH="false" flipV="false" rot="0">
              <a:off x="0" y="0"/>
              <a:ext cx="6630193" cy="1814513"/>
            </a:xfrm>
            <a:custGeom>
              <a:avLst/>
              <a:gdLst/>
              <a:ahLst/>
              <a:cxnLst/>
              <a:rect r="r" b="b" t="t" l="l"/>
              <a:pathLst>
                <a:path h="1814513" w="6630193">
                  <a:moveTo>
                    <a:pt x="0" y="0"/>
                  </a:moveTo>
                  <a:lnTo>
                    <a:pt x="6630193" y="0"/>
                  </a:lnTo>
                  <a:lnTo>
                    <a:pt x="6630193" y="1814513"/>
                  </a:lnTo>
                  <a:lnTo>
                    <a:pt x="0" y="1814513"/>
                  </a:lnTo>
                  <a:close/>
                </a:path>
              </a:pathLst>
            </a:custGeom>
            <a:solidFill>
              <a:srgbClr val="000000">
                <a:alpha val="0"/>
              </a:srgbClr>
            </a:solidFill>
          </p:spPr>
        </p:sp>
        <p:sp>
          <p:nvSpPr>
            <p:cNvPr name="TextBox 14" id="14"/>
            <p:cNvSpPr txBox="true"/>
            <p:nvPr/>
          </p:nvSpPr>
          <p:spPr>
            <a:xfrm>
              <a:off x="0" y="-95250"/>
              <a:ext cx="6630193" cy="1909763"/>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Leverage AI technology to simplify the study process, making it more efficient and effective.</a:t>
              </a:r>
            </a:p>
          </p:txBody>
        </p:sp>
      </p:grpSp>
      <p:grpSp>
        <p:nvGrpSpPr>
          <p:cNvPr name="Group 15" id="15"/>
          <p:cNvGrpSpPr/>
          <p:nvPr/>
        </p:nvGrpSpPr>
        <p:grpSpPr>
          <a:xfrm rot="0">
            <a:off x="6666160" y="4769644"/>
            <a:ext cx="3719364" cy="442912"/>
            <a:chOff x="0" y="0"/>
            <a:chExt cx="4959152" cy="590550"/>
          </a:xfrm>
        </p:grpSpPr>
        <p:sp>
          <p:nvSpPr>
            <p:cNvPr name="Freeform 16" id="16"/>
            <p:cNvSpPr/>
            <p:nvPr/>
          </p:nvSpPr>
          <p:spPr>
            <a:xfrm flipH="false" flipV="false" rot="0">
              <a:off x="0" y="0"/>
              <a:ext cx="4959152" cy="590550"/>
            </a:xfrm>
            <a:custGeom>
              <a:avLst/>
              <a:gdLst/>
              <a:ahLst/>
              <a:cxnLst/>
              <a:rect r="r" b="b" t="t" l="l"/>
              <a:pathLst>
                <a:path h="590550" w="4959152">
                  <a:moveTo>
                    <a:pt x="0" y="0"/>
                  </a:moveTo>
                  <a:lnTo>
                    <a:pt x="4959152" y="0"/>
                  </a:lnTo>
                  <a:lnTo>
                    <a:pt x="4959152" y="590550"/>
                  </a:lnTo>
                  <a:lnTo>
                    <a:pt x="0" y="590550"/>
                  </a:lnTo>
                  <a:close/>
                </a:path>
              </a:pathLst>
            </a:custGeom>
            <a:solidFill>
              <a:srgbClr val="000000">
                <a:alpha val="0"/>
              </a:srgbClr>
            </a:solidFill>
          </p:spPr>
        </p:sp>
        <p:sp>
          <p:nvSpPr>
            <p:cNvPr name="TextBox 17" id="17"/>
            <p:cNvSpPr txBox="true"/>
            <p:nvPr/>
          </p:nvSpPr>
          <p:spPr>
            <a:xfrm>
              <a:off x="0" y="-38100"/>
              <a:ext cx="4959152" cy="628650"/>
            </a:xfrm>
            <a:prstGeom prst="rect">
              <a:avLst/>
            </a:prstGeom>
          </p:spPr>
          <p:txBody>
            <a:bodyPr anchor="t" rtlCol="false" tIns="0" lIns="0" bIns="0" rIns="0"/>
            <a:lstStyle/>
            <a:p>
              <a:pPr algn="l">
                <a:lnSpc>
                  <a:spcPts val="3437"/>
                </a:lnSpc>
              </a:pPr>
              <a:r>
                <a:rPr lang="en-US" sz="2750" b="true">
                  <a:solidFill>
                    <a:srgbClr val="F94CAF"/>
                  </a:solidFill>
                  <a:latin typeface="Arimo Bold"/>
                  <a:ea typeface="Arimo Bold"/>
                  <a:cs typeface="Arimo Bold"/>
                  <a:sym typeface="Arimo Bold"/>
                </a:rPr>
                <a:t>Personalized Guidance</a:t>
              </a:r>
            </a:p>
          </p:txBody>
        </p:sp>
      </p:grpSp>
      <p:grpSp>
        <p:nvGrpSpPr>
          <p:cNvPr name="Group 18" id="18"/>
          <p:cNvGrpSpPr/>
          <p:nvPr/>
        </p:nvGrpSpPr>
        <p:grpSpPr>
          <a:xfrm rot="0">
            <a:off x="6666160" y="5496074"/>
            <a:ext cx="4972645" cy="1360885"/>
            <a:chOff x="0" y="0"/>
            <a:chExt cx="6630193" cy="1814513"/>
          </a:xfrm>
        </p:grpSpPr>
        <p:sp>
          <p:nvSpPr>
            <p:cNvPr name="Freeform 19" id="19"/>
            <p:cNvSpPr/>
            <p:nvPr/>
          </p:nvSpPr>
          <p:spPr>
            <a:xfrm flipH="false" flipV="false" rot="0">
              <a:off x="0" y="0"/>
              <a:ext cx="6630193" cy="1814513"/>
            </a:xfrm>
            <a:custGeom>
              <a:avLst/>
              <a:gdLst/>
              <a:ahLst/>
              <a:cxnLst/>
              <a:rect r="r" b="b" t="t" l="l"/>
              <a:pathLst>
                <a:path h="1814513" w="6630193">
                  <a:moveTo>
                    <a:pt x="0" y="0"/>
                  </a:moveTo>
                  <a:lnTo>
                    <a:pt x="6630193" y="0"/>
                  </a:lnTo>
                  <a:lnTo>
                    <a:pt x="6630193" y="1814513"/>
                  </a:lnTo>
                  <a:lnTo>
                    <a:pt x="0" y="1814513"/>
                  </a:lnTo>
                  <a:close/>
                </a:path>
              </a:pathLst>
            </a:custGeom>
            <a:solidFill>
              <a:srgbClr val="000000">
                <a:alpha val="0"/>
              </a:srgbClr>
            </a:solidFill>
          </p:spPr>
        </p:sp>
        <p:sp>
          <p:nvSpPr>
            <p:cNvPr name="TextBox 20" id="20"/>
            <p:cNvSpPr txBox="true"/>
            <p:nvPr/>
          </p:nvSpPr>
          <p:spPr>
            <a:xfrm>
              <a:off x="0" y="-95250"/>
              <a:ext cx="6630193" cy="1909763"/>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Provide tailored recommendations and support to cater to each student's unique learning style and needs.</a:t>
              </a:r>
            </a:p>
          </p:txBody>
        </p:sp>
      </p:grpSp>
      <p:grpSp>
        <p:nvGrpSpPr>
          <p:cNvPr name="Group 21" id="21"/>
          <p:cNvGrpSpPr/>
          <p:nvPr/>
        </p:nvGrpSpPr>
        <p:grpSpPr>
          <a:xfrm rot="0">
            <a:off x="12340084" y="4769644"/>
            <a:ext cx="3544044" cy="442912"/>
            <a:chOff x="0" y="0"/>
            <a:chExt cx="4725392" cy="590550"/>
          </a:xfrm>
        </p:grpSpPr>
        <p:sp>
          <p:nvSpPr>
            <p:cNvPr name="Freeform 22" id="22"/>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23" id="23"/>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F94CAF"/>
                  </a:solidFill>
                  <a:latin typeface="Arimo Bold"/>
                  <a:ea typeface="Arimo Bold"/>
                  <a:cs typeface="Arimo Bold"/>
                  <a:sym typeface="Arimo Bold"/>
                </a:rPr>
                <a:t>Improved Outcomes</a:t>
              </a:r>
            </a:p>
          </p:txBody>
        </p:sp>
      </p:grpSp>
      <p:grpSp>
        <p:nvGrpSpPr>
          <p:cNvPr name="Group 24" id="24"/>
          <p:cNvGrpSpPr/>
          <p:nvPr/>
        </p:nvGrpSpPr>
        <p:grpSpPr>
          <a:xfrm rot="0">
            <a:off x="12340084" y="5496074"/>
            <a:ext cx="4972645" cy="1360885"/>
            <a:chOff x="0" y="0"/>
            <a:chExt cx="6630193" cy="1814513"/>
          </a:xfrm>
        </p:grpSpPr>
        <p:sp>
          <p:nvSpPr>
            <p:cNvPr name="Freeform 25" id="25"/>
            <p:cNvSpPr/>
            <p:nvPr/>
          </p:nvSpPr>
          <p:spPr>
            <a:xfrm flipH="false" flipV="false" rot="0">
              <a:off x="0" y="0"/>
              <a:ext cx="6630193" cy="1814513"/>
            </a:xfrm>
            <a:custGeom>
              <a:avLst/>
              <a:gdLst/>
              <a:ahLst/>
              <a:cxnLst/>
              <a:rect r="r" b="b" t="t" l="l"/>
              <a:pathLst>
                <a:path h="1814513" w="6630193">
                  <a:moveTo>
                    <a:pt x="0" y="0"/>
                  </a:moveTo>
                  <a:lnTo>
                    <a:pt x="6630193" y="0"/>
                  </a:lnTo>
                  <a:lnTo>
                    <a:pt x="6630193" y="1814513"/>
                  </a:lnTo>
                  <a:lnTo>
                    <a:pt x="0" y="1814513"/>
                  </a:lnTo>
                  <a:close/>
                </a:path>
              </a:pathLst>
            </a:custGeom>
            <a:solidFill>
              <a:srgbClr val="000000">
                <a:alpha val="0"/>
              </a:srgbClr>
            </a:solidFill>
          </p:spPr>
        </p:sp>
        <p:sp>
          <p:nvSpPr>
            <p:cNvPr name="TextBox 26" id="26"/>
            <p:cNvSpPr txBox="true"/>
            <p:nvPr/>
          </p:nvSpPr>
          <p:spPr>
            <a:xfrm>
              <a:off x="0" y="-95250"/>
              <a:ext cx="6630193" cy="1909763"/>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Empower students to achieve their academic goals and excel in their studies.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p:cNvSpPr/>
          <p:nvPr/>
        </p:nvSpPr>
        <p:spPr>
          <a:xfrm flipH="false" flipV="false" rot="0">
            <a:off x="0" y="0"/>
            <a:ext cx="4572000" cy="10288935"/>
          </a:xfrm>
          <a:custGeom>
            <a:avLst/>
            <a:gdLst/>
            <a:ahLst/>
            <a:cxnLst/>
            <a:rect r="r" b="b" t="t" l="l"/>
            <a:pathLst>
              <a:path h="10288935" w="4572000">
                <a:moveTo>
                  <a:pt x="0" y="0"/>
                </a:moveTo>
                <a:lnTo>
                  <a:pt x="4572000" y="0"/>
                </a:lnTo>
                <a:lnTo>
                  <a:pt x="4572000" y="10288935"/>
                </a:lnTo>
                <a:lnTo>
                  <a:pt x="0" y="10288935"/>
                </a:lnTo>
                <a:lnTo>
                  <a:pt x="0" y="0"/>
                </a:lnTo>
                <a:close/>
              </a:path>
            </a:pathLst>
          </a:custGeom>
          <a:blipFill>
            <a:blip r:embed="rId3"/>
            <a:stretch>
              <a:fillRect l="-9" t="0" r="-9" b="0"/>
            </a:stretch>
          </a:blipFill>
        </p:spPr>
      </p:sp>
      <p:grpSp>
        <p:nvGrpSpPr>
          <p:cNvPr name="Group 7" id="7"/>
          <p:cNvGrpSpPr/>
          <p:nvPr/>
        </p:nvGrpSpPr>
        <p:grpSpPr>
          <a:xfrm rot="0">
            <a:off x="5496669" y="726430"/>
            <a:ext cx="6605141" cy="825550"/>
            <a:chOff x="0" y="0"/>
            <a:chExt cx="8806855" cy="1100733"/>
          </a:xfrm>
        </p:grpSpPr>
        <p:sp>
          <p:nvSpPr>
            <p:cNvPr name="Freeform 8" id="8"/>
            <p:cNvSpPr/>
            <p:nvPr/>
          </p:nvSpPr>
          <p:spPr>
            <a:xfrm flipH="false" flipV="false" rot="0">
              <a:off x="0" y="0"/>
              <a:ext cx="8806855" cy="1100733"/>
            </a:xfrm>
            <a:custGeom>
              <a:avLst/>
              <a:gdLst/>
              <a:ahLst/>
              <a:cxnLst/>
              <a:rect r="r" b="b" t="t" l="l"/>
              <a:pathLst>
                <a:path h="1100733" w="8806855">
                  <a:moveTo>
                    <a:pt x="0" y="0"/>
                  </a:moveTo>
                  <a:lnTo>
                    <a:pt x="8806855" y="0"/>
                  </a:lnTo>
                  <a:lnTo>
                    <a:pt x="8806855" y="1100733"/>
                  </a:lnTo>
                  <a:lnTo>
                    <a:pt x="0" y="1100733"/>
                  </a:lnTo>
                  <a:close/>
                </a:path>
              </a:pathLst>
            </a:custGeom>
            <a:solidFill>
              <a:srgbClr val="000000">
                <a:alpha val="0"/>
              </a:srgbClr>
            </a:solidFill>
          </p:spPr>
        </p:sp>
        <p:sp>
          <p:nvSpPr>
            <p:cNvPr name="TextBox 9" id="9"/>
            <p:cNvSpPr txBox="true"/>
            <p:nvPr/>
          </p:nvSpPr>
          <p:spPr>
            <a:xfrm>
              <a:off x="0" y="-66675"/>
              <a:ext cx="8806855" cy="1167408"/>
            </a:xfrm>
            <a:prstGeom prst="rect">
              <a:avLst/>
            </a:prstGeom>
          </p:spPr>
          <p:txBody>
            <a:bodyPr anchor="t" rtlCol="false" tIns="0" lIns="0" bIns="0" rIns="0"/>
            <a:lstStyle/>
            <a:p>
              <a:pPr algn="l">
                <a:lnSpc>
                  <a:spcPts val="6500"/>
                </a:lnSpc>
              </a:pPr>
              <a:r>
                <a:rPr lang="en-US" sz="5187" b="true">
                  <a:solidFill>
                    <a:srgbClr val="F94CAF"/>
                  </a:solidFill>
                  <a:latin typeface="Arimo Bold"/>
                  <a:ea typeface="Arimo Bold"/>
                  <a:cs typeface="Arimo Bold"/>
                  <a:sym typeface="Arimo Bold"/>
                </a:rPr>
                <a:t>Features</a:t>
              </a:r>
            </a:p>
          </p:txBody>
        </p:sp>
      </p:grpSp>
      <p:grpSp>
        <p:nvGrpSpPr>
          <p:cNvPr name="Group 10" id="10"/>
          <p:cNvGrpSpPr/>
          <p:nvPr/>
        </p:nvGrpSpPr>
        <p:grpSpPr>
          <a:xfrm rot="0">
            <a:off x="5496669" y="1948160"/>
            <a:ext cx="594420" cy="594420"/>
            <a:chOff x="0" y="0"/>
            <a:chExt cx="792560" cy="792560"/>
          </a:xfrm>
        </p:grpSpPr>
        <p:sp>
          <p:nvSpPr>
            <p:cNvPr name="Freeform 11" id="11"/>
            <p:cNvSpPr/>
            <p:nvPr/>
          </p:nvSpPr>
          <p:spPr>
            <a:xfrm flipH="false" flipV="false" rot="0">
              <a:off x="0" y="0"/>
              <a:ext cx="792607" cy="792607"/>
            </a:xfrm>
            <a:custGeom>
              <a:avLst/>
              <a:gdLst/>
              <a:ahLst/>
              <a:cxnLst/>
              <a:rect r="r" b="b" t="t" l="l"/>
              <a:pathLst>
                <a:path h="792607" w="792607">
                  <a:moveTo>
                    <a:pt x="0" y="52832"/>
                  </a:moveTo>
                  <a:cubicBezTo>
                    <a:pt x="0" y="23622"/>
                    <a:pt x="23622" y="0"/>
                    <a:pt x="52832" y="0"/>
                  </a:cubicBezTo>
                  <a:lnTo>
                    <a:pt x="739775" y="0"/>
                  </a:lnTo>
                  <a:cubicBezTo>
                    <a:pt x="768985" y="0"/>
                    <a:pt x="792607" y="23622"/>
                    <a:pt x="792607" y="52832"/>
                  </a:cubicBezTo>
                  <a:lnTo>
                    <a:pt x="792607" y="739775"/>
                  </a:lnTo>
                  <a:cubicBezTo>
                    <a:pt x="792607" y="768985"/>
                    <a:pt x="768985" y="792607"/>
                    <a:pt x="739775" y="792607"/>
                  </a:cubicBezTo>
                  <a:lnTo>
                    <a:pt x="52832" y="792607"/>
                  </a:lnTo>
                  <a:cubicBezTo>
                    <a:pt x="23622" y="792607"/>
                    <a:pt x="0" y="768858"/>
                    <a:pt x="0" y="739775"/>
                  </a:cubicBezTo>
                  <a:close/>
                </a:path>
              </a:pathLst>
            </a:custGeom>
            <a:solidFill>
              <a:srgbClr val="433550"/>
            </a:solidFill>
          </p:spPr>
        </p:sp>
      </p:grpSp>
      <p:grpSp>
        <p:nvGrpSpPr>
          <p:cNvPr name="Group 12" id="12"/>
          <p:cNvGrpSpPr/>
          <p:nvPr/>
        </p:nvGrpSpPr>
        <p:grpSpPr>
          <a:xfrm rot="0">
            <a:off x="5595789" y="1997720"/>
            <a:ext cx="396180" cy="495300"/>
            <a:chOff x="0" y="0"/>
            <a:chExt cx="528240" cy="660400"/>
          </a:xfrm>
        </p:grpSpPr>
        <p:sp>
          <p:nvSpPr>
            <p:cNvPr name="Freeform 13" id="13"/>
            <p:cNvSpPr/>
            <p:nvPr/>
          </p:nvSpPr>
          <p:spPr>
            <a:xfrm flipH="false" flipV="false" rot="0">
              <a:off x="0" y="0"/>
              <a:ext cx="528240" cy="660400"/>
            </a:xfrm>
            <a:custGeom>
              <a:avLst/>
              <a:gdLst/>
              <a:ahLst/>
              <a:cxnLst/>
              <a:rect r="r" b="b" t="t" l="l"/>
              <a:pathLst>
                <a:path h="660400" w="528240">
                  <a:moveTo>
                    <a:pt x="0" y="0"/>
                  </a:moveTo>
                  <a:lnTo>
                    <a:pt x="528240" y="0"/>
                  </a:lnTo>
                  <a:lnTo>
                    <a:pt x="528240" y="660400"/>
                  </a:lnTo>
                  <a:lnTo>
                    <a:pt x="0" y="660400"/>
                  </a:lnTo>
                  <a:close/>
                </a:path>
              </a:pathLst>
            </a:custGeom>
            <a:solidFill>
              <a:srgbClr val="000000">
                <a:alpha val="0"/>
              </a:srgbClr>
            </a:solidFill>
          </p:spPr>
        </p:sp>
        <p:sp>
          <p:nvSpPr>
            <p:cNvPr name="TextBox 14" id="14"/>
            <p:cNvSpPr txBox="true"/>
            <p:nvPr/>
          </p:nvSpPr>
          <p:spPr>
            <a:xfrm>
              <a:off x="0" y="38100"/>
              <a:ext cx="528240" cy="622300"/>
            </a:xfrm>
            <a:prstGeom prst="rect">
              <a:avLst/>
            </a:prstGeom>
          </p:spPr>
          <p:txBody>
            <a:bodyPr anchor="t" rtlCol="false" tIns="0" lIns="0" bIns="0" rIns="0"/>
            <a:lstStyle/>
            <a:p>
              <a:pPr algn="ctr">
                <a:lnSpc>
                  <a:spcPts val="3062"/>
                </a:lnSpc>
              </a:pPr>
              <a:r>
                <a:rPr lang="en-US" sz="3062" b="true">
                  <a:solidFill>
                    <a:srgbClr val="DAD1E6"/>
                  </a:solidFill>
                  <a:latin typeface="Arimo Bold"/>
                  <a:ea typeface="Arimo Bold"/>
                  <a:cs typeface="Arimo Bold"/>
                  <a:sym typeface="Arimo Bold"/>
                </a:rPr>
                <a:t>1</a:t>
              </a:r>
            </a:p>
          </p:txBody>
        </p:sp>
      </p:grpSp>
      <p:grpSp>
        <p:nvGrpSpPr>
          <p:cNvPr name="Group 15" id="15"/>
          <p:cNvGrpSpPr/>
          <p:nvPr/>
        </p:nvGrpSpPr>
        <p:grpSpPr>
          <a:xfrm rot="0">
            <a:off x="6355259" y="2038945"/>
            <a:ext cx="3302496" cy="412700"/>
            <a:chOff x="0" y="0"/>
            <a:chExt cx="4403328" cy="550267"/>
          </a:xfrm>
        </p:grpSpPr>
        <p:sp>
          <p:nvSpPr>
            <p:cNvPr name="Freeform 16" id="16"/>
            <p:cNvSpPr/>
            <p:nvPr/>
          </p:nvSpPr>
          <p:spPr>
            <a:xfrm flipH="false" flipV="false" rot="0">
              <a:off x="0" y="0"/>
              <a:ext cx="4403329" cy="550267"/>
            </a:xfrm>
            <a:custGeom>
              <a:avLst/>
              <a:gdLst/>
              <a:ahLst/>
              <a:cxnLst/>
              <a:rect r="r" b="b" t="t" l="l"/>
              <a:pathLst>
                <a:path h="550267" w="4403329">
                  <a:moveTo>
                    <a:pt x="0" y="0"/>
                  </a:moveTo>
                  <a:lnTo>
                    <a:pt x="4403329" y="0"/>
                  </a:lnTo>
                  <a:lnTo>
                    <a:pt x="4403329" y="550267"/>
                  </a:lnTo>
                  <a:lnTo>
                    <a:pt x="0" y="550267"/>
                  </a:lnTo>
                  <a:close/>
                </a:path>
              </a:pathLst>
            </a:custGeom>
            <a:solidFill>
              <a:srgbClr val="000000">
                <a:alpha val="0"/>
              </a:srgbClr>
            </a:solidFill>
          </p:spPr>
        </p:sp>
        <p:sp>
          <p:nvSpPr>
            <p:cNvPr name="TextBox 17" id="17"/>
            <p:cNvSpPr txBox="true"/>
            <p:nvPr/>
          </p:nvSpPr>
          <p:spPr>
            <a:xfrm>
              <a:off x="0" y="-28575"/>
              <a:ext cx="4403328" cy="578842"/>
            </a:xfrm>
            <a:prstGeom prst="rect">
              <a:avLst/>
            </a:prstGeom>
          </p:spPr>
          <p:txBody>
            <a:bodyPr anchor="t" rtlCol="false" tIns="0" lIns="0" bIns="0" rIns="0"/>
            <a:lstStyle/>
            <a:p>
              <a:pPr algn="l">
                <a:lnSpc>
                  <a:spcPts val="3250"/>
                </a:lnSpc>
              </a:pPr>
              <a:r>
                <a:rPr lang="en-US" sz="2562" b="true">
                  <a:solidFill>
                    <a:srgbClr val="DAD1E6"/>
                  </a:solidFill>
                  <a:latin typeface="Arimo Bold"/>
                  <a:ea typeface="Arimo Bold"/>
                  <a:cs typeface="Arimo Bold"/>
                  <a:sym typeface="Arimo Bold"/>
                </a:rPr>
                <a:t>Summarizer</a:t>
              </a:r>
            </a:p>
          </p:txBody>
        </p:sp>
      </p:grpSp>
      <p:grpSp>
        <p:nvGrpSpPr>
          <p:cNvPr name="Group 18" id="18"/>
          <p:cNvGrpSpPr/>
          <p:nvPr/>
        </p:nvGrpSpPr>
        <p:grpSpPr>
          <a:xfrm rot="0">
            <a:off x="6355259" y="2610148"/>
            <a:ext cx="11008072" cy="845344"/>
            <a:chOff x="0" y="0"/>
            <a:chExt cx="14677430" cy="1127125"/>
          </a:xfrm>
        </p:grpSpPr>
        <p:sp>
          <p:nvSpPr>
            <p:cNvPr name="Freeform 19" id="19"/>
            <p:cNvSpPr/>
            <p:nvPr/>
          </p:nvSpPr>
          <p:spPr>
            <a:xfrm flipH="false" flipV="false" rot="0">
              <a:off x="0" y="0"/>
              <a:ext cx="14677430" cy="1127125"/>
            </a:xfrm>
            <a:custGeom>
              <a:avLst/>
              <a:gdLst/>
              <a:ahLst/>
              <a:cxnLst/>
              <a:rect r="r" b="b" t="t" l="l"/>
              <a:pathLst>
                <a:path h="1127125" w="14677430">
                  <a:moveTo>
                    <a:pt x="0" y="0"/>
                  </a:moveTo>
                  <a:lnTo>
                    <a:pt x="14677430" y="0"/>
                  </a:lnTo>
                  <a:lnTo>
                    <a:pt x="14677430" y="1127125"/>
                  </a:lnTo>
                  <a:lnTo>
                    <a:pt x="0" y="1127125"/>
                  </a:lnTo>
                  <a:close/>
                </a:path>
              </a:pathLst>
            </a:custGeom>
            <a:solidFill>
              <a:srgbClr val="000000">
                <a:alpha val="0"/>
              </a:srgbClr>
            </a:solidFill>
          </p:spPr>
        </p:sp>
        <p:sp>
          <p:nvSpPr>
            <p:cNvPr name="TextBox 20" id="20"/>
            <p:cNvSpPr txBox="true"/>
            <p:nvPr/>
          </p:nvSpPr>
          <p:spPr>
            <a:xfrm>
              <a:off x="0" y="-85725"/>
              <a:ext cx="14677430" cy="1212850"/>
            </a:xfrm>
            <a:prstGeom prst="rect">
              <a:avLst/>
            </a:prstGeom>
          </p:spPr>
          <p:txBody>
            <a:bodyPr anchor="t" rtlCol="false" tIns="0" lIns="0" bIns="0" rIns="0"/>
            <a:lstStyle/>
            <a:p>
              <a:pPr algn="l">
                <a:lnSpc>
                  <a:spcPts val="3312"/>
                </a:lnSpc>
              </a:pPr>
              <a:r>
                <a:rPr lang="en-US" sz="2062">
                  <a:solidFill>
                    <a:srgbClr val="DAD1E6"/>
                  </a:solidFill>
                  <a:latin typeface="Fira Sans"/>
                  <a:ea typeface="Fira Sans"/>
                  <a:cs typeface="Fira Sans"/>
                  <a:sym typeface="Fira Sans"/>
                </a:rPr>
                <a:t>Automatically generate concise summaries of lengthy reading materials, helping students quickly grasp key concepts.</a:t>
              </a:r>
            </a:p>
          </p:txBody>
        </p:sp>
      </p:grpSp>
      <p:grpSp>
        <p:nvGrpSpPr>
          <p:cNvPr name="Group 21" id="21"/>
          <p:cNvGrpSpPr/>
          <p:nvPr/>
        </p:nvGrpSpPr>
        <p:grpSpPr>
          <a:xfrm rot="0">
            <a:off x="5496669" y="3983831"/>
            <a:ext cx="594420" cy="594420"/>
            <a:chOff x="0" y="0"/>
            <a:chExt cx="792560" cy="792560"/>
          </a:xfrm>
        </p:grpSpPr>
        <p:sp>
          <p:nvSpPr>
            <p:cNvPr name="Freeform 22" id="22"/>
            <p:cNvSpPr/>
            <p:nvPr/>
          </p:nvSpPr>
          <p:spPr>
            <a:xfrm flipH="false" flipV="false" rot="0">
              <a:off x="0" y="0"/>
              <a:ext cx="792607" cy="792607"/>
            </a:xfrm>
            <a:custGeom>
              <a:avLst/>
              <a:gdLst/>
              <a:ahLst/>
              <a:cxnLst/>
              <a:rect r="r" b="b" t="t" l="l"/>
              <a:pathLst>
                <a:path h="792607" w="792607">
                  <a:moveTo>
                    <a:pt x="0" y="52832"/>
                  </a:moveTo>
                  <a:cubicBezTo>
                    <a:pt x="0" y="23622"/>
                    <a:pt x="23622" y="0"/>
                    <a:pt x="52832" y="0"/>
                  </a:cubicBezTo>
                  <a:lnTo>
                    <a:pt x="739775" y="0"/>
                  </a:lnTo>
                  <a:cubicBezTo>
                    <a:pt x="768985" y="0"/>
                    <a:pt x="792607" y="23622"/>
                    <a:pt x="792607" y="52832"/>
                  </a:cubicBezTo>
                  <a:lnTo>
                    <a:pt x="792607" y="739775"/>
                  </a:lnTo>
                  <a:cubicBezTo>
                    <a:pt x="792607" y="768985"/>
                    <a:pt x="768985" y="792607"/>
                    <a:pt x="739775" y="792607"/>
                  </a:cubicBezTo>
                  <a:lnTo>
                    <a:pt x="52832" y="792607"/>
                  </a:lnTo>
                  <a:cubicBezTo>
                    <a:pt x="23622" y="792607"/>
                    <a:pt x="0" y="768858"/>
                    <a:pt x="0" y="739775"/>
                  </a:cubicBezTo>
                  <a:close/>
                </a:path>
              </a:pathLst>
            </a:custGeom>
            <a:solidFill>
              <a:srgbClr val="433550"/>
            </a:solidFill>
          </p:spPr>
        </p:sp>
      </p:grpSp>
      <p:grpSp>
        <p:nvGrpSpPr>
          <p:cNvPr name="Group 23" id="23"/>
          <p:cNvGrpSpPr/>
          <p:nvPr/>
        </p:nvGrpSpPr>
        <p:grpSpPr>
          <a:xfrm rot="0">
            <a:off x="5595789" y="4033391"/>
            <a:ext cx="396180" cy="495300"/>
            <a:chOff x="0" y="0"/>
            <a:chExt cx="528240" cy="660400"/>
          </a:xfrm>
        </p:grpSpPr>
        <p:sp>
          <p:nvSpPr>
            <p:cNvPr name="Freeform 24" id="24"/>
            <p:cNvSpPr/>
            <p:nvPr/>
          </p:nvSpPr>
          <p:spPr>
            <a:xfrm flipH="false" flipV="false" rot="0">
              <a:off x="0" y="0"/>
              <a:ext cx="528240" cy="660400"/>
            </a:xfrm>
            <a:custGeom>
              <a:avLst/>
              <a:gdLst/>
              <a:ahLst/>
              <a:cxnLst/>
              <a:rect r="r" b="b" t="t" l="l"/>
              <a:pathLst>
                <a:path h="660400" w="528240">
                  <a:moveTo>
                    <a:pt x="0" y="0"/>
                  </a:moveTo>
                  <a:lnTo>
                    <a:pt x="528240" y="0"/>
                  </a:lnTo>
                  <a:lnTo>
                    <a:pt x="528240" y="660400"/>
                  </a:lnTo>
                  <a:lnTo>
                    <a:pt x="0" y="660400"/>
                  </a:lnTo>
                  <a:close/>
                </a:path>
              </a:pathLst>
            </a:custGeom>
            <a:solidFill>
              <a:srgbClr val="000000">
                <a:alpha val="0"/>
              </a:srgbClr>
            </a:solidFill>
          </p:spPr>
        </p:sp>
        <p:sp>
          <p:nvSpPr>
            <p:cNvPr name="TextBox 25" id="25"/>
            <p:cNvSpPr txBox="true"/>
            <p:nvPr/>
          </p:nvSpPr>
          <p:spPr>
            <a:xfrm>
              <a:off x="0" y="38100"/>
              <a:ext cx="528240" cy="622300"/>
            </a:xfrm>
            <a:prstGeom prst="rect">
              <a:avLst/>
            </a:prstGeom>
          </p:spPr>
          <p:txBody>
            <a:bodyPr anchor="t" rtlCol="false" tIns="0" lIns="0" bIns="0" rIns="0"/>
            <a:lstStyle/>
            <a:p>
              <a:pPr algn="ctr">
                <a:lnSpc>
                  <a:spcPts val="3062"/>
                </a:lnSpc>
              </a:pPr>
              <a:r>
                <a:rPr lang="en-US" sz="3062" b="true">
                  <a:solidFill>
                    <a:srgbClr val="DAD1E6"/>
                  </a:solidFill>
                  <a:latin typeface="Arimo Bold"/>
                  <a:ea typeface="Arimo Bold"/>
                  <a:cs typeface="Arimo Bold"/>
                  <a:sym typeface="Arimo Bold"/>
                </a:rPr>
                <a:t>2</a:t>
              </a:r>
            </a:p>
          </p:txBody>
        </p:sp>
      </p:grpSp>
      <p:grpSp>
        <p:nvGrpSpPr>
          <p:cNvPr name="Group 26" id="26"/>
          <p:cNvGrpSpPr/>
          <p:nvPr/>
        </p:nvGrpSpPr>
        <p:grpSpPr>
          <a:xfrm rot="0">
            <a:off x="6355259" y="4074616"/>
            <a:ext cx="3302496" cy="412700"/>
            <a:chOff x="0" y="0"/>
            <a:chExt cx="4403328" cy="550267"/>
          </a:xfrm>
        </p:grpSpPr>
        <p:sp>
          <p:nvSpPr>
            <p:cNvPr name="Freeform 27" id="27"/>
            <p:cNvSpPr/>
            <p:nvPr/>
          </p:nvSpPr>
          <p:spPr>
            <a:xfrm flipH="false" flipV="false" rot="0">
              <a:off x="0" y="0"/>
              <a:ext cx="4403329" cy="550267"/>
            </a:xfrm>
            <a:custGeom>
              <a:avLst/>
              <a:gdLst/>
              <a:ahLst/>
              <a:cxnLst/>
              <a:rect r="r" b="b" t="t" l="l"/>
              <a:pathLst>
                <a:path h="550267" w="4403329">
                  <a:moveTo>
                    <a:pt x="0" y="0"/>
                  </a:moveTo>
                  <a:lnTo>
                    <a:pt x="4403329" y="0"/>
                  </a:lnTo>
                  <a:lnTo>
                    <a:pt x="4403329" y="550267"/>
                  </a:lnTo>
                  <a:lnTo>
                    <a:pt x="0" y="550267"/>
                  </a:lnTo>
                  <a:close/>
                </a:path>
              </a:pathLst>
            </a:custGeom>
            <a:solidFill>
              <a:srgbClr val="000000">
                <a:alpha val="0"/>
              </a:srgbClr>
            </a:solidFill>
          </p:spPr>
        </p:sp>
        <p:sp>
          <p:nvSpPr>
            <p:cNvPr name="TextBox 28" id="28"/>
            <p:cNvSpPr txBox="true"/>
            <p:nvPr/>
          </p:nvSpPr>
          <p:spPr>
            <a:xfrm>
              <a:off x="0" y="-28575"/>
              <a:ext cx="4403328" cy="578842"/>
            </a:xfrm>
            <a:prstGeom prst="rect">
              <a:avLst/>
            </a:prstGeom>
          </p:spPr>
          <p:txBody>
            <a:bodyPr anchor="t" rtlCol="false" tIns="0" lIns="0" bIns="0" rIns="0"/>
            <a:lstStyle/>
            <a:p>
              <a:pPr algn="l">
                <a:lnSpc>
                  <a:spcPts val="3250"/>
                </a:lnSpc>
              </a:pPr>
              <a:r>
                <a:rPr lang="en-US" sz="2562" b="true">
                  <a:solidFill>
                    <a:srgbClr val="DAD1E6"/>
                  </a:solidFill>
                  <a:latin typeface="Arimo Bold"/>
                  <a:ea typeface="Arimo Bold"/>
                  <a:cs typeface="Arimo Bold"/>
                  <a:sym typeface="Arimo Bold"/>
                </a:rPr>
                <a:t>Flashcards</a:t>
              </a:r>
            </a:p>
          </p:txBody>
        </p:sp>
      </p:grpSp>
      <p:grpSp>
        <p:nvGrpSpPr>
          <p:cNvPr name="Group 29" id="29"/>
          <p:cNvGrpSpPr/>
          <p:nvPr/>
        </p:nvGrpSpPr>
        <p:grpSpPr>
          <a:xfrm rot="0">
            <a:off x="6355259" y="4645819"/>
            <a:ext cx="11008072" cy="845344"/>
            <a:chOff x="0" y="0"/>
            <a:chExt cx="14677430" cy="1127125"/>
          </a:xfrm>
        </p:grpSpPr>
        <p:sp>
          <p:nvSpPr>
            <p:cNvPr name="Freeform 30" id="30"/>
            <p:cNvSpPr/>
            <p:nvPr/>
          </p:nvSpPr>
          <p:spPr>
            <a:xfrm flipH="false" flipV="false" rot="0">
              <a:off x="0" y="0"/>
              <a:ext cx="14677430" cy="1127125"/>
            </a:xfrm>
            <a:custGeom>
              <a:avLst/>
              <a:gdLst/>
              <a:ahLst/>
              <a:cxnLst/>
              <a:rect r="r" b="b" t="t" l="l"/>
              <a:pathLst>
                <a:path h="1127125" w="14677430">
                  <a:moveTo>
                    <a:pt x="0" y="0"/>
                  </a:moveTo>
                  <a:lnTo>
                    <a:pt x="14677430" y="0"/>
                  </a:lnTo>
                  <a:lnTo>
                    <a:pt x="14677430" y="1127125"/>
                  </a:lnTo>
                  <a:lnTo>
                    <a:pt x="0" y="1127125"/>
                  </a:lnTo>
                  <a:close/>
                </a:path>
              </a:pathLst>
            </a:custGeom>
            <a:solidFill>
              <a:srgbClr val="000000">
                <a:alpha val="0"/>
              </a:srgbClr>
            </a:solidFill>
          </p:spPr>
        </p:sp>
        <p:sp>
          <p:nvSpPr>
            <p:cNvPr name="TextBox 31" id="31"/>
            <p:cNvSpPr txBox="true"/>
            <p:nvPr/>
          </p:nvSpPr>
          <p:spPr>
            <a:xfrm>
              <a:off x="0" y="-85725"/>
              <a:ext cx="14677430" cy="1212850"/>
            </a:xfrm>
            <a:prstGeom prst="rect">
              <a:avLst/>
            </a:prstGeom>
          </p:spPr>
          <p:txBody>
            <a:bodyPr anchor="t" rtlCol="false" tIns="0" lIns="0" bIns="0" rIns="0"/>
            <a:lstStyle/>
            <a:p>
              <a:pPr algn="l">
                <a:lnSpc>
                  <a:spcPts val="3312"/>
                </a:lnSpc>
              </a:pPr>
              <a:r>
                <a:rPr lang="en-US" sz="2062">
                  <a:solidFill>
                    <a:srgbClr val="DAD1E6"/>
                  </a:solidFill>
                  <a:latin typeface="Fira Sans"/>
                  <a:ea typeface="Fira Sans"/>
                  <a:cs typeface="Fira Sans"/>
                  <a:sym typeface="Fira Sans"/>
                </a:rPr>
                <a:t>Create personalized digital flashcards that adapt to the user's learning progress, reinforcing retention of important information.</a:t>
              </a:r>
            </a:p>
          </p:txBody>
        </p:sp>
      </p:grpSp>
      <p:grpSp>
        <p:nvGrpSpPr>
          <p:cNvPr name="Group 32" id="32"/>
          <p:cNvGrpSpPr/>
          <p:nvPr/>
        </p:nvGrpSpPr>
        <p:grpSpPr>
          <a:xfrm rot="0">
            <a:off x="5496669" y="6019502"/>
            <a:ext cx="594420" cy="594420"/>
            <a:chOff x="0" y="0"/>
            <a:chExt cx="792560" cy="792560"/>
          </a:xfrm>
        </p:grpSpPr>
        <p:sp>
          <p:nvSpPr>
            <p:cNvPr name="Freeform 33" id="33"/>
            <p:cNvSpPr/>
            <p:nvPr/>
          </p:nvSpPr>
          <p:spPr>
            <a:xfrm flipH="false" flipV="false" rot="0">
              <a:off x="0" y="0"/>
              <a:ext cx="792607" cy="792607"/>
            </a:xfrm>
            <a:custGeom>
              <a:avLst/>
              <a:gdLst/>
              <a:ahLst/>
              <a:cxnLst/>
              <a:rect r="r" b="b" t="t" l="l"/>
              <a:pathLst>
                <a:path h="792607" w="792607">
                  <a:moveTo>
                    <a:pt x="0" y="52832"/>
                  </a:moveTo>
                  <a:cubicBezTo>
                    <a:pt x="0" y="23622"/>
                    <a:pt x="23622" y="0"/>
                    <a:pt x="52832" y="0"/>
                  </a:cubicBezTo>
                  <a:lnTo>
                    <a:pt x="739775" y="0"/>
                  </a:lnTo>
                  <a:cubicBezTo>
                    <a:pt x="768985" y="0"/>
                    <a:pt x="792607" y="23622"/>
                    <a:pt x="792607" y="52832"/>
                  </a:cubicBezTo>
                  <a:lnTo>
                    <a:pt x="792607" y="739775"/>
                  </a:lnTo>
                  <a:cubicBezTo>
                    <a:pt x="792607" y="768985"/>
                    <a:pt x="768985" y="792607"/>
                    <a:pt x="739775" y="792607"/>
                  </a:cubicBezTo>
                  <a:lnTo>
                    <a:pt x="52832" y="792607"/>
                  </a:lnTo>
                  <a:cubicBezTo>
                    <a:pt x="23622" y="792607"/>
                    <a:pt x="0" y="768858"/>
                    <a:pt x="0" y="739775"/>
                  </a:cubicBezTo>
                  <a:close/>
                </a:path>
              </a:pathLst>
            </a:custGeom>
            <a:solidFill>
              <a:srgbClr val="433550"/>
            </a:solidFill>
          </p:spPr>
        </p:sp>
      </p:grpSp>
      <p:grpSp>
        <p:nvGrpSpPr>
          <p:cNvPr name="Group 34" id="34"/>
          <p:cNvGrpSpPr/>
          <p:nvPr/>
        </p:nvGrpSpPr>
        <p:grpSpPr>
          <a:xfrm rot="0">
            <a:off x="5595789" y="6069062"/>
            <a:ext cx="396180" cy="495300"/>
            <a:chOff x="0" y="0"/>
            <a:chExt cx="528240" cy="660400"/>
          </a:xfrm>
        </p:grpSpPr>
        <p:sp>
          <p:nvSpPr>
            <p:cNvPr name="Freeform 35" id="35"/>
            <p:cNvSpPr/>
            <p:nvPr/>
          </p:nvSpPr>
          <p:spPr>
            <a:xfrm flipH="false" flipV="false" rot="0">
              <a:off x="0" y="0"/>
              <a:ext cx="528240" cy="660400"/>
            </a:xfrm>
            <a:custGeom>
              <a:avLst/>
              <a:gdLst/>
              <a:ahLst/>
              <a:cxnLst/>
              <a:rect r="r" b="b" t="t" l="l"/>
              <a:pathLst>
                <a:path h="660400" w="528240">
                  <a:moveTo>
                    <a:pt x="0" y="0"/>
                  </a:moveTo>
                  <a:lnTo>
                    <a:pt x="528240" y="0"/>
                  </a:lnTo>
                  <a:lnTo>
                    <a:pt x="528240" y="660400"/>
                  </a:lnTo>
                  <a:lnTo>
                    <a:pt x="0" y="660400"/>
                  </a:lnTo>
                  <a:close/>
                </a:path>
              </a:pathLst>
            </a:custGeom>
            <a:solidFill>
              <a:srgbClr val="000000">
                <a:alpha val="0"/>
              </a:srgbClr>
            </a:solidFill>
          </p:spPr>
        </p:sp>
        <p:sp>
          <p:nvSpPr>
            <p:cNvPr name="TextBox 36" id="36"/>
            <p:cNvSpPr txBox="true"/>
            <p:nvPr/>
          </p:nvSpPr>
          <p:spPr>
            <a:xfrm>
              <a:off x="0" y="38100"/>
              <a:ext cx="528240" cy="622300"/>
            </a:xfrm>
            <a:prstGeom prst="rect">
              <a:avLst/>
            </a:prstGeom>
          </p:spPr>
          <p:txBody>
            <a:bodyPr anchor="t" rtlCol="false" tIns="0" lIns="0" bIns="0" rIns="0"/>
            <a:lstStyle/>
            <a:p>
              <a:pPr algn="ctr">
                <a:lnSpc>
                  <a:spcPts val="3062"/>
                </a:lnSpc>
              </a:pPr>
              <a:r>
                <a:rPr lang="en-US" sz="3062" b="true">
                  <a:solidFill>
                    <a:srgbClr val="DAD1E6"/>
                  </a:solidFill>
                  <a:latin typeface="Arimo Bold"/>
                  <a:ea typeface="Arimo Bold"/>
                  <a:cs typeface="Arimo Bold"/>
                  <a:sym typeface="Arimo Bold"/>
                </a:rPr>
                <a:t>3</a:t>
              </a:r>
            </a:p>
          </p:txBody>
        </p:sp>
      </p:grpSp>
      <p:grpSp>
        <p:nvGrpSpPr>
          <p:cNvPr name="Group 37" id="37"/>
          <p:cNvGrpSpPr/>
          <p:nvPr/>
        </p:nvGrpSpPr>
        <p:grpSpPr>
          <a:xfrm rot="0">
            <a:off x="6355259" y="6110287"/>
            <a:ext cx="3302496" cy="412700"/>
            <a:chOff x="0" y="0"/>
            <a:chExt cx="4403328" cy="550267"/>
          </a:xfrm>
        </p:grpSpPr>
        <p:sp>
          <p:nvSpPr>
            <p:cNvPr name="Freeform 38" id="38"/>
            <p:cNvSpPr/>
            <p:nvPr/>
          </p:nvSpPr>
          <p:spPr>
            <a:xfrm flipH="false" flipV="false" rot="0">
              <a:off x="0" y="0"/>
              <a:ext cx="4403329" cy="550267"/>
            </a:xfrm>
            <a:custGeom>
              <a:avLst/>
              <a:gdLst/>
              <a:ahLst/>
              <a:cxnLst/>
              <a:rect r="r" b="b" t="t" l="l"/>
              <a:pathLst>
                <a:path h="550267" w="4403329">
                  <a:moveTo>
                    <a:pt x="0" y="0"/>
                  </a:moveTo>
                  <a:lnTo>
                    <a:pt x="4403329" y="0"/>
                  </a:lnTo>
                  <a:lnTo>
                    <a:pt x="4403329" y="550267"/>
                  </a:lnTo>
                  <a:lnTo>
                    <a:pt x="0" y="550267"/>
                  </a:lnTo>
                  <a:close/>
                </a:path>
              </a:pathLst>
            </a:custGeom>
            <a:solidFill>
              <a:srgbClr val="000000">
                <a:alpha val="0"/>
              </a:srgbClr>
            </a:solidFill>
          </p:spPr>
        </p:sp>
        <p:sp>
          <p:nvSpPr>
            <p:cNvPr name="TextBox 39" id="39"/>
            <p:cNvSpPr txBox="true"/>
            <p:nvPr/>
          </p:nvSpPr>
          <p:spPr>
            <a:xfrm>
              <a:off x="0" y="-28575"/>
              <a:ext cx="4403328" cy="578842"/>
            </a:xfrm>
            <a:prstGeom prst="rect">
              <a:avLst/>
            </a:prstGeom>
          </p:spPr>
          <p:txBody>
            <a:bodyPr anchor="t" rtlCol="false" tIns="0" lIns="0" bIns="0" rIns="0"/>
            <a:lstStyle/>
            <a:p>
              <a:pPr algn="l">
                <a:lnSpc>
                  <a:spcPts val="3250"/>
                </a:lnSpc>
              </a:pPr>
              <a:r>
                <a:rPr lang="en-US" sz="2562" b="true">
                  <a:solidFill>
                    <a:srgbClr val="DAD1E6"/>
                  </a:solidFill>
                  <a:latin typeface="Arimo Bold"/>
                  <a:ea typeface="Arimo Bold"/>
                  <a:cs typeface="Arimo Bold"/>
                  <a:sym typeface="Arimo Bold"/>
                </a:rPr>
                <a:t>Quiz</a:t>
              </a:r>
            </a:p>
          </p:txBody>
        </p:sp>
      </p:grpSp>
      <p:grpSp>
        <p:nvGrpSpPr>
          <p:cNvPr name="Group 40" id="40"/>
          <p:cNvGrpSpPr/>
          <p:nvPr/>
        </p:nvGrpSpPr>
        <p:grpSpPr>
          <a:xfrm rot="0">
            <a:off x="6355259" y="6681490"/>
            <a:ext cx="11008072" cy="845344"/>
            <a:chOff x="0" y="0"/>
            <a:chExt cx="14677430" cy="1127125"/>
          </a:xfrm>
        </p:grpSpPr>
        <p:sp>
          <p:nvSpPr>
            <p:cNvPr name="Freeform 41" id="41"/>
            <p:cNvSpPr/>
            <p:nvPr/>
          </p:nvSpPr>
          <p:spPr>
            <a:xfrm flipH="false" flipV="false" rot="0">
              <a:off x="0" y="0"/>
              <a:ext cx="14677430" cy="1127125"/>
            </a:xfrm>
            <a:custGeom>
              <a:avLst/>
              <a:gdLst/>
              <a:ahLst/>
              <a:cxnLst/>
              <a:rect r="r" b="b" t="t" l="l"/>
              <a:pathLst>
                <a:path h="1127125" w="14677430">
                  <a:moveTo>
                    <a:pt x="0" y="0"/>
                  </a:moveTo>
                  <a:lnTo>
                    <a:pt x="14677430" y="0"/>
                  </a:lnTo>
                  <a:lnTo>
                    <a:pt x="14677430" y="1127125"/>
                  </a:lnTo>
                  <a:lnTo>
                    <a:pt x="0" y="1127125"/>
                  </a:lnTo>
                  <a:close/>
                </a:path>
              </a:pathLst>
            </a:custGeom>
            <a:solidFill>
              <a:srgbClr val="000000">
                <a:alpha val="0"/>
              </a:srgbClr>
            </a:solidFill>
          </p:spPr>
        </p:sp>
        <p:sp>
          <p:nvSpPr>
            <p:cNvPr name="TextBox 42" id="42"/>
            <p:cNvSpPr txBox="true"/>
            <p:nvPr/>
          </p:nvSpPr>
          <p:spPr>
            <a:xfrm>
              <a:off x="0" y="-85725"/>
              <a:ext cx="14677430" cy="1212850"/>
            </a:xfrm>
            <a:prstGeom prst="rect">
              <a:avLst/>
            </a:prstGeom>
          </p:spPr>
          <p:txBody>
            <a:bodyPr anchor="t" rtlCol="false" tIns="0" lIns="0" bIns="0" rIns="0"/>
            <a:lstStyle/>
            <a:p>
              <a:pPr algn="l">
                <a:lnSpc>
                  <a:spcPts val="3312"/>
                </a:lnSpc>
              </a:pPr>
              <a:r>
                <a:rPr lang="en-US" sz="2062">
                  <a:solidFill>
                    <a:srgbClr val="DAD1E6"/>
                  </a:solidFill>
                  <a:latin typeface="Fira Sans"/>
                  <a:ea typeface="Fira Sans"/>
                  <a:cs typeface="Fira Sans"/>
                  <a:sym typeface="Fira Sans"/>
                </a:rPr>
                <a:t>Assess understanding through customizable quizzes and practice tests, providing real-time feedback and performance tracking.</a:t>
              </a:r>
            </a:p>
          </p:txBody>
        </p:sp>
      </p:grpSp>
      <p:grpSp>
        <p:nvGrpSpPr>
          <p:cNvPr name="Group 43" id="43"/>
          <p:cNvGrpSpPr/>
          <p:nvPr/>
        </p:nvGrpSpPr>
        <p:grpSpPr>
          <a:xfrm rot="0">
            <a:off x="5496669" y="8055174"/>
            <a:ext cx="594420" cy="594420"/>
            <a:chOff x="0" y="0"/>
            <a:chExt cx="792560" cy="792560"/>
          </a:xfrm>
        </p:grpSpPr>
        <p:sp>
          <p:nvSpPr>
            <p:cNvPr name="Freeform 44" id="44"/>
            <p:cNvSpPr/>
            <p:nvPr/>
          </p:nvSpPr>
          <p:spPr>
            <a:xfrm flipH="false" flipV="false" rot="0">
              <a:off x="0" y="0"/>
              <a:ext cx="792607" cy="792607"/>
            </a:xfrm>
            <a:custGeom>
              <a:avLst/>
              <a:gdLst/>
              <a:ahLst/>
              <a:cxnLst/>
              <a:rect r="r" b="b" t="t" l="l"/>
              <a:pathLst>
                <a:path h="792607" w="792607">
                  <a:moveTo>
                    <a:pt x="0" y="52832"/>
                  </a:moveTo>
                  <a:cubicBezTo>
                    <a:pt x="0" y="23622"/>
                    <a:pt x="23622" y="0"/>
                    <a:pt x="52832" y="0"/>
                  </a:cubicBezTo>
                  <a:lnTo>
                    <a:pt x="739775" y="0"/>
                  </a:lnTo>
                  <a:cubicBezTo>
                    <a:pt x="768985" y="0"/>
                    <a:pt x="792607" y="23622"/>
                    <a:pt x="792607" y="52832"/>
                  </a:cubicBezTo>
                  <a:lnTo>
                    <a:pt x="792607" y="739775"/>
                  </a:lnTo>
                  <a:cubicBezTo>
                    <a:pt x="792607" y="768985"/>
                    <a:pt x="768985" y="792607"/>
                    <a:pt x="739775" y="792607"/>
                  </a:cubicBezTo>
                  <a:lnTo>
                    <a:pt x="52832" y="792607"/>
                  </a:lnTo>
                  <a:cubicBezTo>
                    <a:pt x="23622" y="792607"/>
                    <a:pt x="0" y="768858"/>
                    <a:pt x="0" y="739775"/>
                  </a:cubicBezTo>
                  <a:close/>
                </a:path>
              </a:pathLst>
            </a:custGeom>
            <a:solidFill>
              <a:srgbClr val="433550"/>
            </a:solidFill>
          </p:spPr>
        </p:sp>
      </p:grpSp>
      <p:grpSp>
        <p:nvGrpSpPr>
          <p:cNvPr name="Group 45" id="45"/>
          <p:cNvGrpSpPr/>
          <p:nvPr/>
        </p:nvGrpSpPr>
        <p:grpSpPr>
          <a:xfrm rot="0">
            <a:off x="5595789" y="8104734"/>
            <a:ext cx="396180" cy="495300"/>
            <a:chOff x="0" y="0"/>
            <a:chExt cx="528240" cy="660400"/>
          </a:xfrm>
        </p:grpSpPr>
        <p:sp>
          <p:nvSpPr>
            <p:cNvPr name="Freeform 46" id="46"/>
            <p:cNvSpPr/>
            <p:nvPr/>
          </p:nvSpPr>
          <p:spPr>
            <a:xfrm flipH="false" flipV="false" rot="0">
              <a:off x="0" y="0"/>
              <a:ext cx="528240" cy="660400"/>
            </a:xfrm>
            <a:custGeom>
              <a:avLst/>
              <a:gdLst/>
              <a:ahLst/>
              <a:cxnLst/>
              <a:rect r="r" b="b" t="t" l="l"/>
              <a:pathLst>
                <a:path h="660400" w="528240">
                  <a:moveTo>
                    <a:pt x="0" y="0"/>
                  </a:moveTo>
                  <a:lnTo>
                    <a:pt x="528240" y="0"/>
                  </a:lnTo>
                  <a:lnTo>
                    <a:pt x="528240" y="660400"/>
                  </a:lnTo>
                  <a:lnTo>
                    <a:pt x="0" y="660400"/>
                  </a:lnTo>
                  <a:close/>
                </a:path>
              </a:pathLst>
            </a:custGeom>
            <a:solidFill>
              <a:srgbClr val="000000">
                <a:alpha val="0"/>
              </a:srgbClr>
            </a:solidFill>
          </p:spPr>
        </p:sp>
        <p:sp>
          <p:nvSpPr>
            <p:cNvPr name="TextBox 47" id="47"/>
            <p:cNvSpPr txBox="true"/>
            <p:nvPr/>
          </p:nvSpPr>
          <p:spPr>
            <a:xfrm>
              <a:off x="0" y="38100"/>
              <a:ext cx="528240" cy="622300"/>
            </a:xfrm>
            <a:prstGeom prst="rect">
              <a:avLst/>
            </a:prstGeom>
          </p:spPr>
          <p:txBody>
            <a:bodyPr anchor="t" rtlCol="false" tIns="0" lIns="0" bIns="0" rIns="0"/>
            <a:lstStyle/>
            <a:p>
              <a:pPr algn="ctr">
                <a:lnSpc>
                  <a:spcPts val="3062"/>
                </a:lnSpc>
              </a:pPr>
              <a:r>
                <a:rPr lang="en-US" sz="3062" b="true">
                  <a:solidFill>
                    <a:srgbClr val="DAD1E6"/>
                  </a:solidFill>
                  <a:latin typeface="Arimo Bold"/>
                  <a:ea typeface="Arimo Bold"/>
                  <a:cs typeface="Arimo Bold"/>
                  <a:sym typeface="Arimo Bold"/>
                </a:rPr>
                <a:t>4</a:t>
              </a:r>
            </a:p>
          </p:txBody>
        </p:sp>
      </p:grpSp>
      <p:grpSp>
        <p:nvGrpSpPr>
          <p:cNvPr name="Group 48" id="48"/>
          <p:cNvGrpSpPr/>
          <p:nvPr/>
        </p:nvGrpSpPr>
        <p:grpSpPr>
          <a:xfrm rot="0">
            <a:off x="6355259" y="8145959"/>
            <a:ext cx="3302496" cy="412700"/>
            <a:chOff x="0" y="0"/>
            <a:chExt cx="4403328" cy="550267"/>
          </a:xfrm>
        </p:grpSpPr>
        <p:sp>
          <p:nvSpPr>
            <p:cNvPr name="Freeform 49" id="49"/>
            <p:cNvSpPr/>
            <p:nvPr/>
          </p:nvSpPr>
          <p:spPr>
            <a:xfrm flipH="false" flipV="false" rot="0">
              <a:off x="0" y="0"/>
              <a:ext cx="4403329" cy="550267"/>
            </a:xfrm>
            <a:custGeom>
              <a:avLst/>
              <a:gdLst/>
              <a:ahLst/>
              <a:cxnLst/>
              <a:rect r="r" b="b" t="t" l="l"/>
              <a:pathLst>
                <a:path h="550267" w="4403329">
                  <a:moveTo>
                    <a:pt x="0" y="0"/>
                  </a:moveTo>
                  <a:lnTo>
                    <a:pt x="4403329" y="0"/>
                  </a:lnTo>
                  <a:lnTo>
                    <a:pt x="4403329" y="550267"/>
                  </a:lnTo>
                  <a:lnTo>
                    <a:pt x="0" y="550267"/>
                  </a:lnTo>
                  <a:close/>
                </a:path>
              </a:pathLst>
            </a:custGeom>
            <a:solidFill>
              <a:srgbClr val="000000">
                <a:alpha val="0"/>
              </a:srgbClr>
            </a:solidFill>
          </p:spPr>
        </p:sp>
        <p:sp>
          <p:nvSpPr>
            <p:cNvPr name="TextBox 50" id="50"/>
            <p:cNvSpPr txBox="true"/>
            <p:nvPr/>
          </p:nvSpPr>
          <p:spPr>
            <a:xfrm>
              <a:off x="0" y="-28575"/>
              <a:ext cx="4403328" cy="578842"/>
            </a:xfrm>
            <a:prstGeom prst="rect">
              <a:avLst/>
            </a:prstGeom>
          </p:spPr>
          <p:txBody>
            <a:bodyPr anchor="t" rtlCol="false" tIns="0" lIns="0" bIns="0" rIns="0"/>
            <a:lstStyle/>
            <a:p>
              <a:pPr algn="l">
                <a:lnSpc>
                  <a:spcPts val="3250"/>
                </a:lnSpc>
              </a:pPr>
              <a:r>
                <a:rPr lang="en-US" sz="2562" b="true">
                  <a:solidFill>
                    <a:srgbClr val="DAD1E6"/>
                  </a:solidFill>
                  <a:latin typeface="Arimo Bold"/>
                  <a:ea typeface="Arimo Bold"/>
                  <a:cs typeface="Arimo Bold"/>
                  <a:sym typeface="Arimo Bold"/>
                </a:rPr>
                <a:t>Reminders</a:t>
              </a:r>
            </a:p>
          </p:txBody>
        </p:sp>
      </p:grpSp>
      <p:grpSp>
        <p:nvGrpSpPr>
          <p:cNvPr name="Group 51" id="51"/>
          <p:cNvGrpSpPr/>
          <p:nvPr/>
        </p:nvGrpSpPr>
        <p:grpSpPr>
          <a:xfrm rot="0">
            <a:off x="6355259" y="8717161"/>
            <a:ext cx="11008072" cy="845344"/>
            <a:chOff x="0" y="0"/>
            <a:chExt cx="14677430" cy="1127125"/>
          </a:xfrm>
        </p:grpSpPr>
        <p:sp>
          <p:nvSpPr>
            <p:cNvPr name="Freeform 52" id="52"/>
            <p:cNvSpPr/>
            <p:nvPr/>
          </p:nvSpPr>
          <p:spPr>
            <a:xfrm flipH="false" flipV="false" rot="0">
              <a:off x="0" y="0"/>
              <a:ext cx="14677430" cy="1127125"/>
            </a:xfrm>
            <a:custGeom>
              <a:avLst/>
              <a:gdLst/>
              <a:ahLst/>
              <a:cxnLst/>
              <a:rect r="r" b="b" t="t" l="l"/>
              <a:pathLst>
                <a:path h="1127125" w="14677430">
                  <a:moveTo>
                    <a:pt x="0" y="0"/>
                  </a:moveTo>
                  <a:lnTo>
                    <a:pt x="14677430" y="0"/>
                  </a:lnTo>
                  <a:lnTo>
                    <a:pt x="14677430" y="1127125"/>
                  </a:lnTo>
                  <a:lnTo>
                    <a:pt x="0" y="1127125"/>
                  </a:lnTo>
                  <a:close/>
                </a:path>
              </a:pathLst>
            </a:custGeom>
            <a:solidFill>
              <a:srgbClr val="000000">
                <a:alpha val="0"/>
              </a:srgbClr>
            </a:solidFill>
          </p:spPr>
        </p:sp>
        <p:sp>
          <p:nvSpPr>
            <p:cNvPr name="TextBox 53" id="53"/>
            <p:cNvSpPr txBox="true"/>
            <p:nvPr/>
          </p:nvSpPr>
          <p:spPr>
            <a:xfrm>
              <a:off x="0" y="-85725"/>
              <a:ext cx="14677430" cy="1212850"/>
            </a:xfrm>
            <a:prstGeom prst="rect">
              <a:avLst/>
            </a:prstGeom>
          </p:spPr>
          <p:txBody>
            <a:bodyPr anchor="t" rtlCol="false" tIns="0" lIns="0" bIns="0" rIns="0"/>
            <a:lstStyle/>
            <a:p>
              <a:pPr algn="l">
                <a:lnSpc>
                  <a:spcPts val="3312"/>
                </a:lnSpc>
              </a:pPr>
              <a:r>
                <a:rPr lang="en-US" sz="2062">
                  <a:solidFill>
                    <a:srgbClr val="DAD1E6"/>
                  </a:solidFill>
                  <a:latin typeface="Fira Sans"/>
                  <a:ea typeface="Fira Sans"/>
                  <a:cs typeface="Fira Sans"/>
                  <a:sym typeface="Fira Sans"/>
                </a:rPr>
                <a:t>Receive timely reminders for upcoming deadlines, study sessions, and other important academic events.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p:cNvSpPr/>
          <p:nvPr/>
        </p:nvSpPr>
        <p:spPr>
          <a:xfrm flipH="false" flipV="false" rot="0">
            <a:off x="0" y="0"/>
            <a:ext cx="4572000" cy="10287000"/>
          </a:xfrm>
          <a:custGeom>
            <a:avLst/>
            <a:gdLst/>
            <a:ahLst/>
            <a:cxnLst/>
            <a:rect r="r" b="b" t="t" l="l"/>
            <a:pathLst>
              <a:path h="10287000" w="4572000">
                <a:moveTo>
                  <a:pt x="0" y="0"/>
                </a:moveTo>
                <a:lnTo>
                  <a:pt x="4572000" y="0"/>
                </a:lnTo>
                <a:lnTo>
                  <a:pt x="4572000" y="10287000"/>
                </a:lnTo>
                <a:lnTo>
                  <a:pt x="0" y="10287000"/>
                </a:lnTo>
                <a:lnTo>
                  <a:pt x="0" y="0"/>
                </a:lnTo>
                <a:close/>
              </a:path>
            </a:pathLst>
          </a:custGeom>
          <a:blipFill>
            <a:blip r:embed="rId3"/>
            <a:stretch>
              <a:fillRect l="0" t="0" r="0" b="0"/>
            </a:stretch>
          </a:blipFill>
        </p:spPr>
      </p:sp>
      <p:grpSp>
        <p:nvGrpSpPr>
          <p:cNvPr name="Group 7" id="7"/>
          <p:cNvGrpSpPr/>
          <p:nvPr/>
        </p:nvGrpSpPr>
        <p:grpSpPr>
          <a:xfrm rot="0">
            <a:off x="5564238" y="1702445"/>
            <a:ext cx="7088237" cy="885974"/>
            <a:chOff x="0" y="0"/>
            <a:chExt cx="9450983" cy="1181298"/>
          </a:xfrm>
        </p:grpSpPr>
        <p:sp>
          <p:nvSpPr>
            <p:cNvPr name="Freeform 8" id="8"/>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9" id="9"/>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Technical Stack</a:t>
              </a:r>
            </a:p>
          </p:txBody>
        </p:sp>
      </p:grpSp>
      <p:sp>
        <p:nvSpPr>
          <p:cNvPr name="Freeform 10" id="10" descr="preencoded.png"/>
          <p:cNvSpPr/>
          <p:nvPr/>
        </p:nvSpPr>
        <p:spPr>
          <a:xfrm flipH="false" flipV="false" rot="0">
            <a:off x="5564238" y="3013621"/>
            <a:ext cx="708720" cy="708720"/>
          </a:xfrm>
          <a:custGeom>
            <a:avLst/>
            <a:gdLst/>
            <a:ahLst/>
            <a:cxnLst/>
            <a:rect r="r" b="b" t="t" l="l"/>
            <a:pathLst>
              <a:path h="708720" w="708720">
                <a:moveTo>
                  <a:pt x="0" y="0"/>
                </a:moveTo>
                <a:lnTo>
                  <a:pt x="708720" y="0"/>
                </a:lnTo>
                <a:lnTo>
                  <a:pt x="708720" y="708720"/>
                </a:lnTo>
                <a:lnTo>
                  <a:pt x="0" y="708720"/>
                </a:lnTo>
                <a:lnTo>
                  <a:pt x="0" y="0"/>
                </a:lnTo>
                <a:close/>
              </a:path>
            </a:pathLst>
          </a:custGeom>
          <a:blipFill>
            <a:blip r:embed="rId4"/>
            <a:stretch>
              <a:fillRect l="0" t="0" r="0" b="0"/>
            </a:stretch>
          </a:blipFill>
        </p:spPr>
      </p:sp>
      <p:grpSp>
        <p:nvGrpSpPr>
          <p:cNvPr name="Group 11" id="11"/>
          <p:cNvGrpSpPr/>
          <p:nvPr/>
        </p:nvGrpSpPr>
        <p:grpSpPr>
          <a:xfrm rot="0">
            <a:off x="5564238" y="4005857"/>
            <a:ext cx="3544044" cy="442912"/>
            <a:chOff x="0" y="0"/>
            <a:chExt cx="4725392" cy="590550"/>
          </a:xfrm>
        </p:grpSpPr>
        <p:sp>
          <p:nvSpPr>
            <p:cNvPr name="Freeform 12" id="12"/>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13" id="13"/>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HTML</a:t>
              </a:r>
            </a:p>
          </p:txBody>
        </p:sp>
      </p:grpSp>
      <p:sp>
        <p:nvSpPr>
          <p:cNvPr name="Freeform 14" id="14" descr="preencoded.png"/>
          <p:cNvSpPr/>
          <p:nvPr/>
        </p:nvSpPr>
        <p:spPr>
          <a:xfrm flipH="false" flipV="false" rot="0">
            <a:off x="9592866" y="3013621"/>
            <a:ext cx="708720" cy="708720"/>
          </a:xfrm>
          <a:custGeom>
            <a:avLst/>
            <a:gdLst/>
            <a:ahLst/>
            <a:cxnLst/>
            <a:rect r="r" b="b" t="t" l="l"/>
            <a:pathLst>
              <a:path h="708720" w="708720">
                <a:moveTo>
                  <a:pt x="0" y="0"/>
                </a:moveTo>
                <a:lnTo>
                  <a:pt x="708720" y="0"/>
                </a:lnTo>
                <a:lnTo>
                  <a:pt x="708720" y="708720"/>
                </a:lnTo>
                <a:lnTo>
                  <a:pt x="0" y="708720"/>
                </a:lnTo>
                <a:lnTo>
                  <a:pt x="0" y="0"/>
                </a:lnTo>
                <a:close/>
              </a:path>
            </a:pathLst>
          </a:custGeom>
          <a:blipFill>
            <a:blip r:embed="rId5"/>
            <a:stretch>
              <a:fillRect l="0" t="0" r="0" b="0"/>
            </a:stretch>
          </a:blipFill>
        </p:spPr>
      </p:sp>
      <p:grpSp>
        <p:nvGrpSpPr>
          <p:cNvPr name="Group 15" id="15"/>
          <p:cNvGrpSpPr/>
          <p:nvPr/>
        </p:nvGrpSpPr>
        <p:grpSpPr>
          <a:xfrm rot="0">
            <a:off x="9592866" y="4005857"/>
            <a:ext cx="3544044" cy="442912"/>
            <a:chOff x="0" y="0"/>
            <a:chExt cx="4725392" cy="590550"/>
          </a:xfrm>
        </p:grpSpPr>
        <p:sp>
          <p:nvSpPr>
            <p:cNvPr name="Freeform 16" id="16"/>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17" id="17"/>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CSS</a:t>
              </a:r>
            </a:p>
          </p:txBody>
        </p:sp>
      </p:grpSp>
      <p:sp>
        <p:nvSpPr>
          <p:cNvPr name="Freeform 18" id="18" descr="preencoded.png"/>
          <p:cNvSpPr/>
          <p:nvPr/>
        </p:nvSpPr>
        <p:spPr>
          <a:xfrm flipH="false" flipV="false" rot="0">
            <a:off x="13621494" y="3013621"/>
            <a:ext cx="708720" cy="708720"/>
          </a:xfrm>
          <a:custGeom>
            <a:avLst/>
            <a:gdLst/>
            <a:ahLst/>
            <a:cxnLst/>
            <a:rect r="r" b="b" t="t" l="l"/>
            <a:pathLst>
              <a:path h="708720" w="708720">
                <a:moveTo>
                  <a:pt x="0" y="0"/>
                </a:moveTo>
                <a:lnTo>
                  <a:pt x="708720" y="0"/>
                </a:lnTo>
                <a:lnTo>
                  <a:pt x="708720" y="708720"/>
                </a:lnTo>
                <a:lnTo>
                  <a:pt x="0" y="708720"/>
                </a:lnTo>
                <a:lnTo>
                  <a:pt x="0" y="0"/>
                </a:lnTo>
                <a:close/>
              </a:path>
            </a:pathLst>
          </a:custGeom>
          <a:blipFill>
            <a:blip r:embed="rId6"/>
            <a:stretch>
              <a:fillRect l="0" t="0" r="0" b="0"/>
            </a:stretch>
          </a:blipFill>
        </p:spPr>
      </p:sp>
      <p:grpSp>
        <p:nvGrpSpPr>
          <p:cNvPr name="Group 19" id="19"/>
          <p:cNvGrpSpPr/>
          <p:nvPr/>
        </p:nvGrpSpPr>
        <p:grpSpPr>
          <a:xfrm rot="0">
            <a:off x="13621494" y="4005857"/>
            <a:ext cx="3544044" cy="442912"/>
            <a:chOff x="0" y="0"/>
            <a:chExt cx="4725392" cy="590550"/>
          </a:xfrm>
        </p:grpSpPr>
        <p:sp>
          <p:nvSpPr>
            <p:cNvPr name="Freeform 20" id="20"/>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21" id="21"/>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JavaScript</a:t>
              </a:r>
            </a:p>
          </p:txBody>
        </p:sp>
      </p:grpSp>
      <p:sp>
        <p:nvSpPr>
          <p:cNvPr name="Freeform 22" id="22" descr="preencoded.png"/>
          <p:cNvSpPr/>
          <p:nvPr/>
        </p:nvSpPr>
        <p:spPr>
          <a:xfrm flipH="false" flipV="false" rot="0">
            <a:off x="5564238" y="5015805"/>
            <a:ext cx="708720" cy="708720"/>
          </a:xfrm>
          <a:custGeom>
            <a:avLst/>
            <a:gdLst/>
            <a:ahLst/>
            <a:cxnLst/>
            <a:rect r="r" b="b" t="t" l="l"/>
            <a:pathLst>
              <a:path h="708720" w="708720">
                <a:moveTo>
                  <a:pt x="0" y="0"/>
                </a:moveTo>
                <a:lnTo>
                  <a:pt x="708720" y="0"/>
                </a:lnTo>
                <a:lnTo>
                  <a:pt x="708720" y="708720"/>
                </a:lnTo>
                <a:lnTo>
                  <a:pt x="0" y="708720"/>
                </a:lnTo>
                <a:lnTo>
                  <a:pt x="0" y="0"/>
                </a:lnTo>
                <a:close/>
              </a:path>
            </a:pathLst>
          </a:custGeom>
          <a:blipFill>
            <a:blip r:embed="rId7"/>
            <a:stretch>
              <a:fillRect l="0" t="0" r="0" b="0"/>
            </a:stretch>
          </a:blipFill>
        </p:spPr>
      </p:sp>
      <p:grpSp>
        <p:nvGrpSpPr>
          <p:cNvPr name="Group 23" id="23"/>
          <p:cNvGrpSpPr/>
          <p:nvPr/>
        </p:nvGrpSpPr>
        <p:grpSpPr>
          <a:xfrm rot="0">
            <a:off x="5564238" y="6008042"/>
            <a:ext cx="3544044" cy="442912"/>
            <a:chOff x="0" y="0"/>
            <a:chExt cx="4725392" cy="590550"/>
          </a:xfrm>
        </p:grpSpPr>
        <p:sp>
          <p:nvSpPr>
            <p:cNvPr name="Freeform 24" id="24"/>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25" id="25"/>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Node.js</a:t>
              </a:r>
            </a:p>
          </p:txBody>
        </p:sp>
      </p:grpSp>
      <p:grpSp>
        <p:nvGrpSpPr>
          <p:cNvPr name="Group 26" id="26"/>
          <p:cNvGrpSpPr/>
          <p:nvPr/>
        </p:nvGrpSpPr>
        <p:grpSpPr>
          <a:xfrm rot="0">
            <a:off x="5564238" y="6769894"/>
            <a:ext cx="11731526" cy="1814512"/>
            <a:chOff x="0" y="0"/>
            <a:chExt cx="15642035" cy="2419350"/>
          </a:xfrm>
        </p:grpSpPr>
        <p:sp>
          <p:nvSpPr>
            <p:cNvPr name="Freeform 27" id="27"/>
            <p:cNvSpPr/>
            <p:nvPr/>
          </p:nvSpPr>
          <p:spPr>
            <a:xfrm flipH="false" flipV="false" rot="0">
              <a:off x="0" y="0"/>
              <a:ext cx="15642034" cy="2419350"/>
            </a:xfrm>
            <a:custGeom>
              <a:avLst/>
              <a:gdLst/>
              <a:ahLst/>
              <a:cxnLst/>
              <a:rect r="r" b="b" t="t" l="l"/>
              <a:pathLst>
                <a:path h="2419350" w="15642034">
                  <a:moveTo>
                    <a:pt x="0" y="0"/>
                  </a:moveTo>
                  <a:lnTo>
                    <a:pt x="15642034" y="0"/>
                  </a:lnTo>
                  <a:lnTo>
                    <a:pt x="15642034" y="2419350"/>
                  </a:lnTo>
                  <a:lnTo>
                    <a:pt x="0" y="2419350"/>
                  </a:lnTo>
                  <a:close/>
                </a:path>
              </a:pathLst>
            </a:custGeom>
            <a:solidFill>
              <a:srgbClr val="000000">
                <a:alpha val="0"/>
              </a:srgbClr>
            </a:solidFill>
          </p:spPr>
        </p:sp>
        <p:sp>
          <p:nvSpPr>
            <p:cNvPr name="TextBox 28" id="28"/>
            <p:cNvSpPr txBox="true"/>
            <p:nvPr/>
          </p:nvSpPr>
          <p:spPr>
            <a:xfrm>
              <a:off x="0" y="-95250"/>
              <a:ext cx="15642035" cy="2514600"/>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StudyGenius is built on a powerful technology stack that includes HTML, CSS, and JavaScript for the user interface, Node.js for the backend, and integration with the OpenAI API for advanced language processing capabilities. The entire platform is hosted on Replit, a collaborative coding environment.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grpSp>
        <p:nvGrpSpPr>
          <p:cNvPr name="Group 7" id="7"/>
          <p:cNvGrpSpPr/>
          <p:nvPr/>
        </p:nvGrpSpPr>
        <p:grpSpPr>
          <a:xfrm rot="0">
            <a:off x="7850237" y="3580656"/>
            <a:ext cx="7088237" cy="885974"/>
            <a:chOff x="0" y="0"/>
            <a:chExt cx="9450983" cy="1181298"/>
          </a:xfrm>
        </p:grpSpPr>
        <p:sp>
          <p:nvSpPr>
            <p:cNvPr name="Freeform 8" id="8"/>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9" id="9"/>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User Interface</a:t>
              </a:r>
            </a:p>
          </p:txBody>
        </p:sp>
      </p:grpSp>
      <p:grpSp>
        <p:nvGrpSpPr>
          <p:cNvPr name="Group 10" id="10"/>
          <p:cNvGrpSpPr/>
          <p:nvPr/>
        </p:nvGrpSpPr>
        <p:grpSpPr>
          <a:xfrm rot="0">
            <a:off x="7850237" y="4891831"/>
            <a:ext cx="9445526" cy="1814512"/>
            <a:chOff x="0" y="0"/>
            <a:chExt cx="12594035" cy="2419350"/>
          </a:xfrm>
        </p:grpSpPr>
        <p:sp>
          <p:nvSpPr>
            <p:cNvPr name="Freeform 11" id="11"/>
            <p:cNvSpPr/>
            <p:nvPr/>
          </p:nvSpPr>
          <p:spPr>
            <a:xfrm flipH="false" flipV="false" rot="0">
              <a:off x="0" y="0"/>
              <a:ext cx="12594035" cy="2419350"/>
            </a:xfrm>
            <a:custGeom>
              <a:avLst/>
              <a:gdLst/>
              <a:ahLst/>
              <a:cxnLst/>
              <a:rect r="r" b="b" t="t" l="l"/>
              <a:pathLst>
                <a:path h="2419350" w="12594035">
                  <a:moveTo>
                    <a:pt x="0" y="0"/>
                  </a:moveTo>
                  <a:lnTo>
                    <a:pt x="12594035" y="0"/>
                  </a:lnTo>
                  <a:lnTo>
                    <a:pt x="12594035" y="2419350"/>
                  </a:lnTo>
                  <a:lnTo>
                    <a:pt x="0" y="2419350"/>
                  </a:lnTo>
                  <a:close/>
                </a:path>
              </a:pathLst>
            </a:custGeom>
            <a:solidFill>
              <a:srgbClr val="000000">
                <a:alpha val="0"/>
              </a:srgbClr>
            </a:solidFill>
          </p:spPr>
        </p:sp>
        <p:sp>
          <p:nvSpPr>
            <p:cNvPr name="TextBox 12" id="12"/>
            <p:cNvSpPr txBox="true"/>
            <p:nvPr/>
          </p:nvSpPr>
          <p:spPr>
            <a:xfrm>
              <a:off x="0" y="-95250"/>
              <a:ext cx="12594035" cy="2514600"/>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The StudyGenius user interface is designed to be intuitive and user-friendly, with a clean and modern aesthetic. The main features, including the Summarizer, Flashcards, Quiz, and Reminders, are easily accessible through a seamless navigation menu.</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p:cNvSpPr/>
          <p:nvPr/>
        </p:nvSpPr>
        <p:spPr>
          <a:xfrm flipH="false" flipV="false" rot="0">
            <a:off x="0" y="0"/>
            <a:ext cx="18288000" cy="3110210"/>
          </a:xfrm>
          <a:custGeom>
            <a:avLst/>
            <a:gdLst/>
            <a:ahLst/>
            <a:cxnLst/>
            <a:rect r="r" b="b" t="t" l="l"/>
            <a:pathLst>
              <a:path h="3110210" w="18288000">
                <a:moveTo>
                  <a:pt x="0" y="0"/>
                </a:moveTo>
                <a:lnTo>
                  <a:pt x="18288000" y="0"/>
                </a:lnTo>
                <a:lnTo>
                  <a:pt x="18288000" y="3110210"/>
                </a:lnTo>
                <a:lnTo>
                  <a:pt x="0" y="3110210"/>
                </a:lnTo>
                <a:lnTo>
                  <a:pt x="0" y="0"/>
                </a:lnTo>
                <a:close/>
              </a:path>
            </a:pathLst>
          </a:custGeom>
          <a:blipFill>
            <a:blip r:embed="rId3"/>
            <a:stretch>
              <a:fillRect l="0" t="-71" r="0" b="-71"/>
            </a:stretch>
          </a:blipFill>
        </p:spPr>
      </p:sp>
      <p:grpSp>
        <p:nvGrpSpPr>
          <p:cNvPr name="Group 7" id="7"/>
          <p:cNvGrpSpPr/>
          <p:nvPr/>
        </p:nvGrpSpPr>
        <p:grpSpPr>
          <a:xfrm rot="0">
            <a:off x="870794" y="3794372"/>
            <a:ext cx="6220569" cy="777628"/>
            <a:chOff x="0" y="0"/>
            <a:chExt cx="8294092" cy="1036837"/>
          </a:xfrm>
        </p:grpSpPr>
        <p:sp>
          <p:nvSpPr>
            <p:cNvPr name="Freeform 8" id="8"/>
            <p:cNvSpPr/>
            <p:nvPr/>
          </p:nvSpPr>
          <p:spPr>
            <a:xfrm flipH="false" flipV="false" rot="0">
              <a:off x="0" y="0"/>
              <a:ext cx="8294091" cy="1036837"/>
            </a:xfrm>
            <a:custGeom>
              <a:avLst/>
              <a:gdLst/>
              <a:ahLst/>
              <a:cxnLst/>
              <a:rect r="r" b="b" t="t" l="l"/>
              <a:pathLst>
                <a:path h="1036837" w="8294091">
                  <a:moveTo>
                    <a:pt x="0" y="0"/>
                  </a:moveTo>
                  <a:lnTo>
                    <a:pt x="8294091" y="0"/>
                  </a:lnTo>
                  <a:lnTo>
                    <a:pt x="8294091" y="1036837"/>
                  </a:lnTo>
                  <a:lnTo>
                    <a:pt x="0" y="1036837"/>
                  </a:lnTo>
                  <a:close/>
                </a:path>
              </a:pathLst>
            </a:custGeom>
            <a:solidFill>
              <a:srgbClr val="000000">
                <a:alpha val="0"/>
              </a:srgbClr>
            </a:solidFill>
          </p:spPr>
        </p:sp>
        <p:sp>
          <p:nvSpPr>
            <p:cNvPr name="TextBox 9" id="9"/>
            <p:cNvSpPr txBox="true"/>
            <p:nvPr/>
          </p:nvSpPr>
          <p:spPr>
            <a:xfrm>
              <a:off x="0" y="-38100"/>
              <a:ext cx="8294092" cy="1074937"/>
            </a:xfrm>
            <a:prstGeom prst="rect">
              <a:avLst/>
            </a:prstGeom>
          </p:spPr>
          <p:txBody>
            <a:bodyPr anchor="t" rtlCol="false" tIns="0" lIns="0" bIns="0" rIns="0"/>
            <a:lstStyle/>
            <a:p>
              <a:pPr algn="l">
                <a:lnSpc>
                  <a:spcPts val="6062"/>
                </a:lnSpc>
              </a:pPr>
              <a:r>
                <a:rPr lang="en-US" sz="4875" b="true">
                  <a:solidFill>
                    <a:srgbClr val="F94CAF"/>
                  </a:solidFill>
                  <a:latin typeface="Arimo Bold"/>
                  <a:ea typeface="Arimo Bold"/>
                  <a:cs typeface="Arimo Bold"/>
                  <a:sym typeface="Arimo Bold"/>
                </a:rPr>
                <a:t>Workflow</a:t>
              </a:r>
            </a:p>
          </p:txBody>
        </p:sp>
      </p:grpSp>
      <p:grpSp>
        <p:nvGrpSpPr>
          <p:cNvPr name="Group 10" id="10"/>
          <p:cNvGrpSpPr/>
          <p:nvPr/>
        </p:nvGrpSpPr>
        <p:grpSpPr>
          <a:xfrm rot="0">
            <a:off x="870794" y="7274570"/>
            <a:ext cx="16546414" cy="28575"/>
            <a:chOff x="0" y="0"/>
            <a:chExt cx="22061885" cy="38100"/>
          </a:xfrm>
        </p:grpSpPr>
        <p:sp>
          <p:nvSpPr>
            <p:cNvPr name="Freeform 11" id="11"/>
            <p:cNvSpPr/>
            <p:nvPr/>
          </p:nvSpPr>
          <p:spPr>
            <a:xfrm flipH="false" flipV="false" rot="0">
              <a:off x="0" y="0"/>
              <a:ext cx="22061932" cy="38100"/>
            </a:xfrm>
            <a:custGeom>
              <a:avLst/>
              <a:gdLst/>
              <a:ahLst/>
              <a:cxnLst/>
              <a:rect r="r" b="b" t="t" l="l"/>
              <a:pathLst>
                <a:path h="38100" w="22061932">
                  <a:moveTo>
                    <a:pt x="0" y="19050"/>
                  </a:moveTo>
                  <a:cubicBezTo>
                    <a:pt x="0" y="8509"/>
                    <a:pt x="8509" y="0"/>
                    <a:pt x="19050" y="0"/>
                  </a:cubicBezTo>
                  <a:lnTo>
                    <a:pt x="22042882" y="0"/>
                  </a:lnTo>
                  <a:cubicBezTo>
                    <a:pt x="22053423" y="0"/>
                    <a:pt x="22061932" y="8509"/>
                    <a:pt x="22061932" y="19050"/>
                  </a:cubicBezTo>
                  <a:cubicBezTo>
                    <a:pt x="22061932" y="29591"/>
                    <a:pt x="22053423" y="38100"/>
                    <a:pt x="22042882" y="38100"/>
                  </a:cubicBezTo>
                  <a:lnTo>
                    <a:pt x="19050" y="38100"/>
                  </a:lnTo>
                  <a:cubicBezTo>
                    <a:pt x="8509" y="38100"/>
                    <a:pt x="0" y="29591"/>
                    <a:pt x="0" y="19050"/>
                  </a:cubicBezTo>
                  <a:close/>
                </a:path>
              </a:pathLst>
            </a:custGeom>
            <a:solidFill>
              <a:srgbClr val="5C4E69"/>
            </a:solidFill>
          </p:spPr>
        </p:sp>
      </p:grpSp>
      <p:grpSp>
        <p:nvGrpSpPr>
          <p:cNvPr name="Group 12" id="12"/>
          <p:cNvGrpSpPr/>
          <p:nvPr/>
        </p:nvGrpSpPr>
        <p:grpSpPr>
          <a:xfrm rot="0">
            <a:off x="4072235" y="6528271"/>
            <a:ext cx="28575" cy="746372"/>
            <a:chOff x="0" y="0"/>
            <a:chExt cx="38100" cy="995163"/>
          </a:xfrm>
        </p:grpSpPr>
        <p:sp>
          <p:nvSpPr>
            <p:cNvPr name="Freeform 13" id="13"/>
            <p:cNvSpPr/>
            <p:nvPr/>
          </p:nvSpPr>
          <p:spPr>
            <a:xfrm flipH="false" flipV="false" rot="0">
              <a:off x="0" y="0"/>
              <a:ext cx="38100" cy="995172"/>
            </a:xfrm>
            <a:custGeom>
              <a:avLst/>
              <a:gdLst/>
              <a:ahLst/>
              <a:cxnLst/>
              <a:rect r="r" b="b" t="t" l="l"/>
              <a:pathLst>
                <a:path h="995172" w="38100">
                  <a:moveTo>
                    <a:pt x="0" y="19050"/>
                  </a:moveTo>
                  <a:cubicBezTo>
                    <a:pt x="0" y="8509"/>
                    <a:pt x="8509" y="0"/>
                    <a:pt x="19050" y="0"/>
                  </a:cubicBezTo>
                  <a:cubicBezTo>
                    <a:pt x="29591" y="0"/>
                    <a:pt x="38100" y="8509"/>
                    <a:pt x="38100" y="19050"/>
                  </a:cubicBezTo>
                  <a:lnTo>
                    <a:pt x="38100" y="976122"/>
                  </a:lnTo>
                  <a:cubicBezTo>
                    <a:pt x="38100" y="986663"/>
                    <a:pt x="29591" y="995172"/>
                    <a:pt x="19050" y="995172"/>
                  </a:cubicBezTo>
                  <a:cubicBezTo>
                    <a:pt x="8509" y="995172"/>
                    <a:pt x="0" y="986663"/>
                    <a:pt x="0" y="976122"/>
                  </a:cubicBezTo>
                  <a:close/>
                </a:path>
              </a:pathLst>
            </a:custGeom>
            <a:solidFill>
              <a:srgbClr val="5C4E69"/>
            </a:solidFill>
          </p:spPr>
        </p:sp>
      </p:grpSp>
      <p:grpSp>
        <p:nvGrpSpPr>
          <p:cNvPr name="Group 14" id="14"/>
          <p:cNvGrpSpPr/>
          <p:nvPr/>
        </p:nvGrpSpPr>
        <p:grpSpPr>
          <a:xfrm rot="0">
            <a:off x="3806726" y="6994699"/>
            <a:ext cx="559742" cy="559743"/>
            <a:chOff x="0" y="0"/>
            <a:chExt cx="746323" cy="746323"/>
          </a:xfrm>
        </p:grpSpPr>
        <p:sp>
          <p:nvSpPr>
            <p:cNvPr name="Freeform 15" id="15"/>
            <p:cNvSpPr/>
            <p:nvPr/>
          </p:nvSpPr>
          <p:spPr>
            <a:xfrm flipH="false" flipV="false" rot="0">
              <a:off x="0" y="0"/>
              <a:ext cx="746379" cy="746379"/>
            </a:xfrm>
            <a:custGeom>
              <a:avLst/>
              <a:gdLst/>
              <a:ahLst/>
              <a:cxnLst/>
              <a:rect r="r" b="b" t="t" l="l"/>
              <a:pathLst>
                <a:path h="746379" w="746379">
                  <a:moveTo>
                    <a:pt x="0" y="49784"/>
                  </a:moveTo>
                  <a:cubicBezTo>
                    <a:pt x="0" y="22225"/>
                    <a:pt x="22225" y="0"/>
                    <a:pt x="49784" y="0"/>
                  </a:cubicBezTo>
                  <a:lnTo>
                    <a:pt x="696595" y="0"/>
                  </a:lnTo>
                  <a:cubicBezTo>
                    <a:pt x="724027" y="0"/>
                    <a:pt x="746379" y="22225"/>
                    <a:pt x="746379" y="49784"/>
                  </a:cubicBezTo>
                  <a:lnTo>
                    <a:pt x="746379" y="696595"/>
                  </a:lnTo>
                  <a:cubicBezTo>
                    <a:pt x="746379" y="724027"/>
                    <a:pt x="724154" y="746379"/>
                    <a:pt x="696595" y="746379"/>
                  </a:cubicBezTo>
                  <a:lnTo>
                    <a:pt x="49784" y="746379"/>
                  </a:lnTo>
                  <a:cubicBezTo>
                    <a:pt x="22225" y="746379"/>
                    <a:pt x="0" y="724027"/>
                    <a:pt x="0" y="696595"/>
                  </a:cubicBezTo>
                  <a:close/>
                </a:path>
              </a:pathLst>
            </a:custGeom>
            <a:solidFill>
              <a:srgbClr val="433550"/>
            </a:solidFill>
          </p:spPr>
        </p:sp>
      </p:grpSp>
      <p:grpSp>
        <p:nvGrpSpPr>
          <p:cNvPr name="Group 16" id="16"/>
          <p:cNvGrpSpPr/>
          <p:nvPr/>
        </p:nvGrpSpPr>
        <p:grpSpPr>
          <a:xfrm rot="0">
            <a:off x="3899966" y="7041281"/>
            <a:ext cx="373113" cy="466428"/>
            <a:chOff x="0" y="0"/>
            <a:chExt cx="497483" cy="621903"/>
          </a:xfrm>
        </p:grpSpPr>
        <p:sp>
          <p:nvSpPr>
            <p:cNvPr name="Freeform 17" id="17"/>
            <p:cNvSpPr/>
            <p:nvPr/>
          </p:nvSpPr>
          <p:spPr>
            <a:xfrm flipH="false" flipV="false" rot="0">
              <a:off x="0" y="0"/>
              <a:ext cx="497483" cy="621903"/>
            </a:xfrm>
            <a:custGeom>
              <a:avLst/>
              <a:gdLst/>
              <a:ahLst/>
              <a:cxnLst/>
              <a:rect r="r" b="b" t="t" l="l"/>
              <a:pathLst>
                <a:path h="621903" w="497483">
                  <a:moveTo>
                    <a:pt x="0" y="0"/>
                  </a:moveTo>
                  <a:lnTo>
                    <a:pt x="497483" y="0"/>
                  </a:lnTo>
                  <a:lnTo>
                    <a:pt x="497483" y="621903"/>
                  </a:lnTo>
                  <a:lnTo>
                    <a:pt x="0" y="621903"/>
                  </a:lnTo>
                  <a:close/>
                </a:path>
              </a:pathLst>
            </a:custGeom>
            <a:solidFill>
              <a:srgbClr val="000000">
                <a:alpha val="0"/>
              </a:srgbClr>
            </a:solidFill>
          </p:spPr>
        </p:sp>
        <p:sp>
          <p:nvSpPr>
            <p:cNvPr name="TextBox 18" id="18"/>
            <p:cNvSpPr txBox="true"/>
            <p:nvPr/>
          </p:nvSpPr>
          <p:spPr>
            <a:xfrm>
              <a:off x="0" y="38100"/>
              <a:ext cx="497483" cy="583803"/>
            </a:xfrm>
            <a:prstGeom prst="rect">
              <a:avLst/>
            </a:prstGeom>
          </p:spPr>
          <p:txBody>
            <a:bodyPr anchor="t" rtlCol="false" tIns="0" lIns="0" bIns="0" rIns="0"/>
            <a:lstStyle/>
            <a:p>
              <a:pPr algn="ctr">
                <a:lnSpc>
                  <a:spcPts val="2937"/>
                </a:lnSpc>
              </a:pPr>
              <a:r>
                <a:rPr lang="en-US" sz="2937" b="true">
                  <a:solidFill>
                    <a:srgbClr val="DAD1E6"/>
                  </a:solidFill>
                  <a:latin typeface="Arimo Bold"/>
                  <a:ea typeface="Arimo Bold"/>
                  <a:cs typeface="Arimo Bold"/>
                  <a:sym typeface="Arimo Bold"/>
                </a:rPr>
                <a:t>1</a:t>
              </a:r>
            </a:p>
          </p:txBody>
        </p:sp>
      </p:grpSp>
      <p:grpSp>
        <p:nvGrpSpPr>
          <p:cNvPr name="Group 19" id="19"/>
          <p:cNvGrpSpPr/>
          <p:nvPr/>
        </p:nvGrpSpPr>
        <p:grpSpPr>
          <a:xfrm rot="0">
            <a:off x="2531566" y="4945112"/>
            <a:ext cx="3110210" cy="388739"/>
            <a:chOff x="0" y="0"/>
            <a:chExt cx="4146947" cy="518318"/>
          </a:xfrm>
        </p:grpSpPr>
        <p:sp>
          <p:nvSpPr>
            <p:cNvPr name="Freeform 20" id="20"/>
            <p:cNvSpPr/>
            <p:nvPr/>
          </p:nvSpPr>
          <p:spPr>
            <a:xfrm flipH="false" flipV="false" rot="0">
              <a:off x="0" y="0"/>
              <a:ext cx="4146947" cy="518318"/>
            </a:xfrm>
            <a:custGeom>
              <a:avLst/>
              <a:gdLst/>
              <a:ahLst/>
              <a:cxnLst/>
              <a:rect r="r" b="b" t="t" l="l"/>
              <a:pathLst>
                <a:path h="518318" w="4146947">
                  <a:moveTo>
                    <a:pt x="0" y="0"/>
                  </a:moveTo>
                  <a:lnTo>
                    <a:pt x="4146947" y="0"/>
                  </a:lnTo>
                  <a:lnTo>
                    <a:pt x="4146947" y="518318"/>
                  </a:lnTo>
                  <a:lnTo>
                    <a:pt x="0" y="518318"/>
                  </a:lnTo>
                  <a:close/>
                </a:path>
              </a:pathLst>
            </a:custGeom>
            <a:solidFill>
              <a:srgbClr val="000000">
                <a:alpha val="0"/>
              </a:srgbClr>
            </a:solidFill>
          </p:spPr>
        </p:sp>
        <p:sp>
          <p:nvSpPr>
            <p:cNvPr name="TextBox 21" id="21"/>
            <p:cNvSpPr txBox="true"/>
            <p:nvPr/>
          </p:nvSpPr>
          <p:spPr>
            <a:xfrm>
              <a:off x="0" y="-9525"/>
              <a:ext cx="4146947" cy="527843"/>
            </a:xfrm>
            <a:prstGeom prst="rect">
              <a:avLst/>
            </a:prstGeom>
          </p:spPr>
          <p:txBody>
            <a:bodyPr anchor="t" rtlCol="false" tIns="0" lIns="0" bIns="0" rIns="0"/>
            <a:lstStyle/>
            <a:p>
              <a:pPr algn="ctr">
                <a:lnSpc>
                  <a:spcPts val="2999"/>
                </a:lnSpc>
              </a:pPr>
              <a:r>
                <a:rPr lang="en-US" sz="2437" b="true">
                  <a:solidFill>
                    <a:srgbClr val="DAD1E6"/>
                  </a:solidFill>
                  <a:latin typeface="Arimo Bold"/>
                  <a:ea typeface="Arimo Bold"/>
                  <a:cs typeface="Arimo Bold"/>
                  <a:sym typeface="Arimo Bold"/>
                </a:rPr>
                <a:t>Onboard</a:t>
              </a:r>
            </a:p>
          </p:txBody>
        </p:sp>
      </p:grpSp>
      <p:grpSp>
        <p:nvGrpSpPr>
          <p:cNvPr name="Group 22" id="22"/>
          <p:cNvGrpSpPr/>
          <p:nvPr/>
        </p:nvGrpSpPr>
        <p:grpSpPr>
          <a:xfrm rot="0">
            <a:off x="1119485" y="5483126"/>
            <a:ext cx="5934521" cy="796230"/>
            <a:chOff x="0" y="0"/>
            <a:chExt cx="7912695" cy="1061640"/>
          </a:xfrm>
        </p:grpSpPr>
        <p:sp>
          <p:nvSpPr>
            <p:cNvPr name="Freeform 23" id="23"/>
            <p:cNvSpPr/>
            <p:nvPr/>
          </p:nvSpPr>
          <p:spPr>
            <a:xfrm flipH="false" flipV="false" rot="0">
              <a:off x="0" y="0"/>
              <a:ext cx="7912695" cy="1061640"/>
            </a:xfrm>
            <a:custGeom>
              <a:avLst/>
              <a:gdLst/>
              <a:ahLst/>
              <a:cxnLst/>
              <a:rect r="r" b="b" t="t" l="l"/>
              <a:pathLst>
                <a:path h="1061640" w="7912695">
                  <a:moveTo>
                    <a:pt x="0" y="0"/>
                  </a:moveTo>
                  <a:lnTo>
                    <a:pt x="7912695" y="0"/>
                  </a:lnTo>
                  <a:lnTo>
                    <a:pt x="7912695" y="1061640"/>
                  </a:lnTo>
                  <a:lnTo>
                    <a:pt x="0" y="1061640"/>
                  </a:lnTo>
                  <a:close/>
                </a:path>
              </a:pathLst>
            </a:custGeom>
            <a:solidFill>
              <a:srgbClr val="000000">
                <a:alpha val="0"/>
              </a:srgbClr>
            </a:solidFill>
          </p:spPr>
        </p:sp>
        <p:sp>
          <p:nvSpPr>
            <p:cNvPr name="TextBox 24" id="24"/>
            <p:cNvSpPr txBox="true"/>
            <p:nvPr/>
          </p:nvSpPr>
          <p:spPr>
            <a:xfrm>
              <a:off x="0" y="-76200"/>
              <a:ext cx="7912695" cy="1137840"/>
            </a:xfrm>
            <a:prstGeom prst="rect">
              <a:avLst/>
            </a:prstGeom>
          </p:spPr>
          <p:txBody>
            <a:bodyPr anchor="t" rtlCol="false" tIns="0" lIns="0" bIns="0" rIns="0"/>
            <a:lstStyle/>
            <a:p>
              <a:pPr algn="ctr">
                <a:lnSpc>
                  <a:spcPts val="3125"/>
                </a:lnSpc>
              </a:pPr>
              <a:r>
                <a:rPr lang="en-US" sz="1937">
                  <a:solidFill>
                    <a:srgbClr val="DAD1E6"/>
                  </a:solidFill>
                  <a:latin typeface="Fira Sans"/>
                  <a:ea typeface="Fira Sans"/>
                  <a:cs typeface="Fira Sans"/>
                  <a:sym typeface="Fira Sans"/>
                </a:rPr>
                <a:t>Sign up and set up your personalized study preferences.</a:t>
              </a:r>
            </a:p>
          </p:txBody>
        </p:sp>
      </p:grpSp>
      <p:grpSp>
        <p:nvGrpSpPr>
          <p:cNvPr name="Group 25" id="25"/>
          <p:cNvGrpSpPr/>
          <p:nvPr/>
        </p:nvGrpSpPr>
        <p:grpSpPr>
          <a:xfrm rot="0">
            <a:off x="7443787" y="7274495"/>
            <a:ext cx="28575" cy="746372"/>
            <a:chOff x="0" y="0"/>
            <a:chExt cx="38100" cy="995163"/>
          </a:xfrm>
        </p:grpSpPr>
        <p:sp>
          <p:nvSpPr>
            <p:cNvPr name="Freeform 26" id="26"/>
            <p:cNvSpPr/>
            <p:nvPr/>
          </p:nvSpPr>
          <p:spPr>
            <a:xfrm flipH="false" flipV="false" rot="0">
              <a:off x="0" y="0"/>
              <a:ext cx="38100" cy="995172"/>
            </a:xfrm>
            <a:custGeom>
              <a:avLst/>
              <a:gdLst/>
              <a:ahLst/>
              <a:cxnLst/>
              <a:rect r="r" b="b" t="t" l="l"/>
              <a:pathLst>
                <a:path h="995172" w="38100">
                  <a:moveTo>
                    <a:pt x="0" y="19050"/>
                  </a:moveTo>
                  <a:cubicBezTo>
                    <a:pt x="0" y="8509"/>
                    <a:pt x="8509" y="0"/>
                    <a:pt x="19050" y="0"/>
                  </a:cubicBezTo>
                  <a:cubicBezTo>
                    <a:pt x="29591" y="0"/>
                    <a:pt x="38100" y="8509"/>
                    <a:pt x="38100" y="19050"/>
                  </a:cubicBezTo>
                  <a:lnTo>
                    <a:pt x="38100" y="976122"/>
                  </a:lnTo>
                  <a:cubicBezTo>
                    <a:pt x="38100" y="986663"/>
                    <a:pt x="29591" y="995172"/>
                    <a:pt x="19050" y="995172"/>
                  </a:cubicBezTo>
                  <a:cubicBezTo>
                    <a:pt x="8509" y="995172"/>
                    <a:pt x="0" y="986663"/>
                    <a:pt x="0" y="976122"/>
                  </a:cubicBezTo>
                  <a:close/>
                </a:path>
              </a:pathLst>
            </a:custGeom>
            <a:solidFill>
              <a:srgbClr val="5C4E69"/>
            </a:solidFill>
          </p:spPr>
        </p:sp>
      </p:grpSp>
      <p:grpSp>
        <p:nvGrpSpPr>
          <p:cNvPr name="Group 27" id="27"/>
          <p:cNvGrpSpPr/>
          <p:nvPr/>
        </p:nvGrpSpPr>
        <p:grpSpPr>
          <a:xfrm rot="0">
            <a:off x="7178279" y="6994699"/>
            <a:ext cx="559743" cy="559743"/>
            <a:chOff x="0" y="0"/>
            <a:chExt cx="746323" cy="746323"/>
          </a:xfrm>
        </p:grpSpPr>
        <p:sp>
          <p:nvSpPr>
            <p:cNvPr name="Freeform 28" id="28"/>
            <p:cNvSpPr/>
            <p:nvPr/>
          </p:nvSpPr>
          <p:spPr>
            <a:xfrm flipH="false" flipV="false" rot="0">
              <a:off x="0" y="0"/>
              <a:ext cx="746379" cy="746379"/>
            </a:xfrm>
            <a:custGeom>
              <a:avLst/>
              <a:gdLst/>
              <a:ahLst/>
              <a:cxnLst/>
              <a:rect r="r" b="b" t="t" l="l"/>
              <a:pathLst>
                <a:path h="746379" w="746379">
                  <a:moveTo>
                    <a:pt x="0" y="49784"/>
                  </a:moveTo>
                  <a:cubicBezTo>
                    <a:pt x="0" y="22225"/>
                    <a:pt x="22225" y="0"/>
                    <a:pt x="49784" y="0"/>
                  </a:cubicBezTo>
                  <a:lnTo>
                    <a:pt x="696595" y="0"/>
                  </a:lnTo>
                  <a:cubicBezTo>
                    <a:pt x="724027" y="0"/>
                    <a:pt x="746379" y="22225"/>
                    <a:pt x="746379" y="49784"/>
                  </a:cubicBezTo>
                  <a:lnTo>
                    <a:pt x="746379" y="696595"/>
                  </a:lnTo>
                  <a:cubicBezTo>
                    <a:pt x="746379" y="724027"/>
                    <a:pt x="724154" y="746379"/>
                    <a:pt x="696595" y="746379"/>
                  </a:cubicBezTo>
                  <a:lnTo>
                    <a:pt x="49784" y="746379"/>
                  </a:lnTo>
                  <a:cubicBezTo>
                    <a:pt x="22225" y="746379"/>
                    <a:pt x="0" y="724027"/>
                    <a:pt x="0" y="696595"/>
                  </a:cubicBezTo>
                  <a:close/>
                </a:path>
              </a:pathLst>
            </a:custGeom>
            <a:solidFill>
              <a:srgbClr val="433550"/>
            </a:solidFill>
          </p:spPr>
        </p:sp>
      </p:grpSp>
      <p:grpSp>
        <p:nvGrpSpPr>
          <p:cNvPr name="Group 29" id="29"/>
          <p:cNvGrpSpPr/>
          <p:nvPr/>
        </p:nvGrpSpPr>
        <p:grpSpPr>
          <a:xfrm rot="0">
            <a:off x="7271519" y="7041281"/>
            <a:ext cx="373112" cy="466428"/>
            <a:chOff x="0" y="0"/>
            <a:chExt cx="497483" cy="621903"/>
          </a:xfrm>
        </p:grpSpPr>
        <p:sp>
          <p:nvSpPr>
            <p:cNvPr name="Freeform 30" id="30"/>
            <p:cNvSpPr/>
            <p:nvPr/>
          </p:nvSpPr>
          <p:spPr>
            <a:xfrm flipH="false" flipV="false" rot="0">
              <a:off x="0" y="0"/>
              <a:ext cx="497483" cy="621903"/>
            </a:xfrm>
            <a:custGeom>
              <a:avLst/>
              <a:gdLst/>
              <a:ahLst/>
              <a:cxnLst/>
              <a:rect r="r" b="b" t="t" l="l"/>
              <a:pathLst>
                <a:path h="621903" w="497483">
                  <a:moveTo>
                    <a:pt x="0" y="0"/>
                  </a:moveTo>
                  <a:lnTo>
                    <a:pt x="497483" y="0"/>
                  </a:lnTo>
                  <a:lnTo>
                    <a:pt x="497483" y="621903"/>
                  </a:lnTo>
                  <a:lnTo>
                    <a:pt x="0" y="621903"/>
                  </a:lnTo>
                  <a:close/>
                </a:path>
              </a:pathLst>
            </a:custGeom>
            <a:solidFill>
              <a:srgbClr val="000000">
                <a:alpha val="0"/>
              </a:srgbClr>
            </a:solidFill>
          </p:spPr>
        </p:sp>
        <p:sp>
          <p:nvSpPr>
            <p:cNvPr name="TextBox 31" id="31"/>
            <p:cNvSpPr txBox="true"/>
            <p:nvPr/>
          </p:nvSpPr>
          <p:spPr>
            <a:xfrm>
              <a:off x="0" y="38100"/>
              <a:ext cx="497483" cy="583803"/>
            </a:xfrm>
            <a:prstGeom prst="rect">
              <a:avLst/>
            </a:prstGeom>
          </p:spPr>
          <p:txBody>
            <a:bodyPr anchor="t" rtlCol="false" tIns="0" lIns="0" bIns="0" rIns="0"/>
            <a:lstStyle/>
            <a:p>
              <a:pPr algn="ctr">
                <a:lnSpc>
                  <a:spcPts val="2937"/>
                </a:lnSpc>
              </a:pPr>
              <a:r>
                <a:rPr lang="en-US" sz="2937" b="true">
                  <a:solidFill>
                    <a:srgbClr val="DAD1E6"/>
                  </a:solidFill>
                  <a:latin typeface="Arimo Bold"/>
                  <a:ea typeface="Arimo Bold"/>
                  <a:cs typeface="Arimo Bold"/>
                  <a:sym typeface="Arimo Bold"/>
                </a:rPr>
                <a:t>2</a:t>
              </a:r>
            </a:p>
          </p:txBody>
        </p:sp>
      </p:grpSp>
      <p:grpSp>
        <p:nvGrpSpPr>
          <p:cNvPr name="Group 32" id="32"/>
          <p:cNvGrpSpPr/>
          <p:nvPr/>
        </p:nvGrpSpPr>
        <p:grpSpPr>
          <a:xfrm rot="0">
            <a:off x="5903119" y="8269784"/>
            <a:ext cx="3110210" cy="388739"/>
            <a:chOff x="0" y="0"/>
            <a:chExt cx="4146947" cy="518318"/>
          </a:xfrm>
        </p:grpSpPr>
        <p:sp>
          <p:nvSpPr>
            <p:cNvPr name="Freeform 33" id="33"/>
            <p:cNvSpPr/>
            <p:nvPr/>
          </p:nvSpPr>
          <p:spPr>
            <a:xfrm flipH="false" flipV="false" rot="0">
              <a:off x="0" y="0"/>
              <a:ext cx="4146947" cy="518318"/>
            </a:xfrm>
            <a:custGeom>
              <a:avLst/>
              <a:gdLst/>
              <a:ahLst/>
              <a:cxnLst/>
              <a:rect r="r" b="b" t="t" l="l"/>
              <a:pathLst>
                <a:path h="518318" w="4146947">
                  <a:moveTo>
                    <a:pt x="0" y="0"/>
                  </a:moveTo>
                  <a:lnTo>
                    <a:pt x="4146947" y="0"/>
                  </a:lnTo>
                  <a:lnTo>
                    <a:pt x="4146947" y="518318"/>
                  </a:lnTo>
                  <a:lnTo>
                    <a:pt x="0" y="518318"/>
                  </a:lnTo>
                  <a:close/>
                </a:path>
              </a:pathLst>
            </a:custGeom>
            <a:solidFill>
              <a:srgbClr val="000000">
                <a:alpha val="0"/>
              </a:srgbClr>
            </a:solidFill>
          </p:spPr>
        </p:sp>
        <p:sp>
          <p:nvSpPr>
            <p:cNvPr name="TextBox 34" id="34"/>
            <p:cNvSpPr txBox="true"/>
            <p:nvPr/>
          </p:nvSpPr>
          <p:spPr>
            <a:xfrm>
              <a:off x="0" y="-9525"/>
              <a:ext cx="4146947" cy="527843"/>
            </a:xfrm>
            <a:prstGeom prst="rect">
              <a:avLst/>
            </a:prstGeom>
          </p:spPr>
          <p:txBody>
            <a:bodyPr anchor="t" rtlCol="false" tIns="0" lIns="0" bIns="0" rIns="0"/>
            <a:lstStyle/>
            <a:p>
              <a:pPr algn="ctr">
                <a:lnSpc>
                  <a:spcPts val="2999"/>
                </a:lnSpc>
              </a:pPr>
              <a:r>
                <a:rPr lang="en-US" sz="2437" b="true">
                  <a:solidFill>
                    <a:srgbClr val="DAD1E6"/>
                  </a:solidFill>
                  <a:latin typeface="Arimo Bold"/>
                  <a:ea typeface="Arimo Bold"/>
                  <a:cs typeface="Arimo Bold"/>
                  <a:sym typeface="Arimo Bold"/>
                </a:rPr>
                <a:t>Summarize</a:t>
              </a:r>
            </a:p>
          </p:txBody>
        </p:sp>
      </p:grpSp>
      <p:grpSp>
        <p:nvGrpSpPr>
          <p:cNvPr name="Group 35" id="35"/>
          <p:cNvGrpSpPr/>
          <p:nvPr/>
        </p:nvGrpSpPr>
        <p:grpSpPr>
          <a:xfrm rot="0">
            <a:off x="4490889" y="8807798"/>
            <a:ext cx="5934670" cy="796230"/>
            <a:chOff x="0" y="0"/>
            <a:chExt cx="7912893" cy="1061640"/>
          </a:xfrm>
        </p:grpSpPr>
        <p:sp>
          <p:nvSpPr>
            <p:cNvPr name="Freeform 36" id="36"/>
            <p:cNvSpPr/>
            <p:nvPr/>
          </p:nvSpPr>
          <p:spPr>
            <a:xfrm flipH="false" flipV="false" rot="0">
              <a:off x="0" y="0"/>
              <a:ext cx="7912893" cy="1061640"/>
            </a:xfrm>
            <a:custGeom>
              <a:avLst/>
              <a:gdLst/>
              <a:ahLst/>
              <a:cxnLst/>
              <a:rect r="r" b="b" t="t" l="l"/>
              <a:pathLst>
                <a:path h="1061640" w="7912893">
                  <a:moveTo>
                    <a:pt x="0" y="0"/>
                  </a:moveTo>
                  <a:lnTo>
                    <a:pt x="7912893" y="0"/>
                  </a:lnTo>
                  <a:lnTo>
                    <a:pt x="7912893" y="1061640"/>
                  </a:lnTo>
                  <a:lnTo>
                    <a:pt x="0" y="1061640"/>
                  </a:lnTo>
                  <a:close/>
                </a:path>
              </a:pathLst>
            </a:custGeom>
            <a:solidFill>
              <a:srgbClr val="000000">
                <a:alpha val="0"/>
              </a:srgbClr>
            </a:solidFill>
          </p:spPr>
        </p:sp>
        <p:sp>
          <p:nvSpPr>
            <p:cNvPr name="TextBox 37" id="37"/>
            <p:cNvSpPr txBox="true"/>
            <p:nvPr/>
          </p:nvSpPr>
          <p:spPr>
            <a:xfrm>
              <a:off x="0" y="-76200"/>
              <a:ext cx="7912893" cy="1137840"/>
            </a:xfrm>
            <a:prstGeom prst="rect">
              <a:avLst/>
            </a:prstGeom>
          </p:spPr>
          <p:txBody>
            <a:bodyPr anchor="t" rtlCol="false" tIns="0" lIns="0" bIns="0" rIns="0"/>
            <a:lstStyle/>
            <a:p>
              <a:pPr algn="ctr">
                <a:lnSpc>
                  <a:spcPts val="3125"/>
                </a:lnSpc>
              </a:pPr>
              <a:r>
                <a:rPr lang="en-US" sz="1937">
                  <a:solidFill>
                    <a:srgbClr val="DAD1E6"/>
                  </a:solidFill>
                  <a:latin typeface="Fira Sans"/>
                  <a:ea typeface="Fira Sans"/>
                  <a:cs typeface="Fira Sans"/>
                  <a:sym typeface="Fira Sans"/>
                </a:rPr>
                <a:t>Upload documents and let the AI summarizer extract key points.</a:t>
              </a:r>
            </a:p>
          </p:txBody>
        </p:sp>
      </p:grpSp>
      <p:grpSp>
        <p:nvGrpSpPr>
          <p:cNvPr name="Group 38" id="38"/>
          <p:cNvGrpSpPr/>
          <p:nvPr/>
        </p:nvGrpSpPr>
        <p:grpSpPr>
          <a:xfrm rot="0">
            <a:off x="10815191" y="6528271"/>
            <a:ext cx="28575" cy="746372"/>
            <a:chOff x="0" y="0"/>
            <a:chExt cx="38100" cy="995163"/>
          </a:xfrm>
        </p:grpSpPr>
        <p:sp>
          <p:nvSpPr>
            <p:cNvPr name="Freeform 39" id="39"/>
            <p:cNvSpPr/>
            <p:nvPr/>
          </p:nvSpPr>
          <p:spPr>
            <a:xfrm flipH="false" flipV="false" rot="0">
              <a:off x="0" y="0"/>
              <a:ext cx="38100" cy="995172"/>
            </a:xfrm>
            <a:custGeom>
              <a:avLst/>
              <a:gdLst/>
              <a:ahLst/>
              <a:cxnLst/>
              <a:rect r="r" b="b" t="t" l="l"/>
              <a:pathLst>
                <a:path h="995172" w="38100">
                  <a:moveTo>
                    <a:pt x="0" y="19050"/>
                  </a:moveTo>
                  <a:cubicBezTo>
                    <a:pt x="0" y="8509"/>
                    <a:pt x="8509" y="0"/>
                    <a:pt x="19050" y="0"/>
                  </a:cubicBezTo>
                  <a:cubicBezTo>
                    <a:pt x="29591" y="0"/>
                    <a:pt x="38100" y="8509"/>
                    <a:pt x="38100" y="19050"/>
                  </a:cubicBezTo>
                  <a:lnTo>
                    <a:pt x="38100" y="976122"/>
                  </a:lnTo>
                  <a:cubicBezTo>
                    <a:pt x="38100" y="986663"/>
                    <a:pt x="29591" y="995172"/>
                    <a:pt x="19050" y="995172"/>
                  </a:cubicBezTo>
                  <a:cubicBezTo>
                    <a:pt x="8509" y="995172"/>
                    <a:pt x="0" y="986663"/>
                    <a:pt x="0" y="976122"/>
                  </a:cubicBezTo>
                  <a:close/>
                </a:path>
              </a:pathLst>
            </a:custGeom>
            <a:solidFill>
              <a:srgbClr val="5C4E69"/>
            </a:solidFill>
          </p:spPr>
        </p:sp>
      </p:grpSp>
      <p:grpSp>
        <p:nvGrpSpPr>
          <p:cNvPr name="Group 40" id="40"/>
          <p:cNvGrpSpPr/>
          <p:nvPr/>
        </p:nvGrpSpPr>
        <p:grpSpPr>
          <a:xfrm rot="0">
            <a:off x="10549681" y="6994699"/>
            <a:ext cx="559743" cy="559743"/>
            <a:chOff x="0" y="0"/>
            <a:chExt cx="746323" cy="746323"/>
          </a:xfrm>
        </p:grpSpPr>
        <p:sp>
          <p:nvSpPr>
            <p:cNvPr name="Freeform 41" id="41"/>
            <p:cNvSpPr/>
            <p:nvPr/>
          </p:nvSpPr>
          <p:spPr>
            <a:xfrm flipH="false" flipV="false" rot="0">
              <a:off x="0" y="0"/>
              <a:ext cx="746379" cy="746379"/>
            </a:xfrm>
            <a:custGeom>
              <a:avLst/>
              <a:gdLst/>
              <a:ahLst/>
              <a:cxnLst/>
              <a:rect r="r" b="b" t="t" l="l"/>
              <a:pathLst>
                <a:path h="746379" w="746379">
                  <a:moveTo>
                    <a:pt x="0" y="49784"/>
                  </a:moveTo>
                  <a:cubicBezTo>
                    <a:pt x="0" y="22225"/>
                    <a:pt x="22225" y="0"/>
                    <a:pt x="49784" y="0"/>
                  </a:cubicBezTo>
                  <a:lnTo>
                    <a:pt x="696595" y="0"/>
                  </a:lnTo>
                  <a:cubicBezTo>
                    <a:pt x="724027" y="0"/>
                    <a:pt x="746379" y="22225"/>
                    <a:pt x="746379" y="49784"/>
                  </a:cubicBezTo>
                  <a:lnTo>
                    <a:pt x="746379" y="696595"/>
                  </a:lnTo>
                  <a:cubicBezTo>
                    <a:pt x="746379" y="724027"/>
                    <a:pt x="724154" y="746379"/>
                    <a:pt x="696595" y="746379"/>
                  </a:cubicBezTo>
                  <a:lnTo>
                    <a:pt x="49784" y="746379"/>
                  </a:lnTo>
                  <a:cubicBezTo>
                    <a:pt x="22225" y="746379"/>
                    <a:pt x="0" y="724027"/>
                    <a:pt x="0" y="696595"/>
                  </a:cubicBezTo>
                  <a:close/>
                </a:path>
              </a:pathLst>
            </a:custGeom>
            <a:solidFill>
              <a:srgbClr val="433550"/>
            </a:solidFill>
          </p:spPr>
        </p:sp>
      </p:grpSp>
      <p:grpSp>
        <p:nvGrpSpPr>
          <p:cNvPr name="Group 42" id="42"/>
          <p:cNvGrpSpPr/>
          <p:nvPr/>
        </p:nvGrpSpPr>
        <p:grpSpPr>
          <a:xfrm rot="0">
            <a:off x="10642922" y="7041281"/>
            <a:ext cx="373113" cy="466428"/>
            <a:chOff x="0" y="0"/>
            <a:chExt cx="497483" cy="621903"/>
          </a:xfrm>
        </p:grpSpPr>
        <p:sp>
          <p:nvSpPr>
            <p:cNvPr name="Freeform 43" id="43"/>
            <p:cNvSpPr/>
            <p:nvPr/>
          </p:nvSpPr>
          <p:spPr>
            <a:xfrm flipH="false" flipV="false" rot="0">
              <a:off x="0" y="0"/>
              <a:ext cx="497483" cy="621903"/>
            </a:xfrm>
            <a:custGeom>
              <a:avLst/>
              <a:gdLst/>
              <a:ahLst/>
              <a:cxnLst/>
              <a:rect r="r" b="b" t="t" l="l"/>
              <a:pathLst>
                <a:path h="621903" w="497483">
                  <a:moveTo>
                    <a:pt x="0" y="0"/>
                  </a:moveTo>
                  <a:lnTo>
                    <a:pt x="497483" y="0"/>
                  </a:lnTo>
                  <a:lnTo>
                    <a:pt x="497483" y="621903"/>
                  </a:lnTo>
                  <a:lnTo>
                    <a:pt x="0" y="621903"/>
                  </a:lnTo>
                  <a:close/>
                </a:path>
              </a:pathLst>
            </a:custGeom>
            <a:solidFill>
              <a:srgbClr val="000000">
                <a:alpha val="0"/>
              </a:srgbClr>
            </a:solidFill>
          </p:spPr>
        </p:sp>
        <p:sp>
          <p:nvSpPr>
            <p:cNvPr name="TextBox 44" id="44"/>
            <p:cNvSpPr txBox="true"/>
            <p:nvPr/>
          </p:nvSpPr>
          <p:spPr>
            <a:xfrm>
              <a:off x="0" y="38100"/>
              <a:ext cx="497483" cy="583803"/>
            </a:xfrm>
            <a:prstGeom prst="rect">
              <a:avLst/>
            </a:prstGeom>
          </p:spPr>
          <p:txBody>
            <a:bodyPr anchor="t" rtlCol="false" tIns="0" lIns="0" bIns="0" rIns="0"/>
            <a:lstStyle/>
            <a:p>
              <a:pPr algn="ctr">
                <a:lnSpc>
                  <a:spcPts val="2937"/>
                </a:lnSpc>
              </a:pPr>
              <a:r>
                <a:rPr lang="en-US" sz="2937" b="true">
                  <a:solidFill>
                    <a:srgbClr val="DAD1E6"/>
                  </a:solidFill>
                  <a:latin typeface="Arimo Bold"/>
                  <a:ea typeface="Arimo Bold"/>
                  <a:cs typeface="Arimo Bold"/>
                  <a:sym typeface="Arimo Bold"/>
                </a:rPr>
                <a:t>3</a:t>
              </a:r>
            </a:p>
          </p:txBody>
        </p:sp>
      </p:grpSp>
      <p:grpSp>
        <p:nvGrpSpPr>
          <p:cNvPr name="Group 45" id="45"/>
          <p:cNvGrpSpPr/>
          <p:nvPr/>
        </p:nvGrpSpPr>
        <p:grpSpPr>
          <a:xfrm rot="0">
            <a:off x="9274522" y="4945112"/>
            <a:ext cx="3110210" cy="388739"/>
            <a:chOff x="0" y="0"/>
            <a:chExt cx="4146947" cy="518318"/>
          </a:xfrm>
        </p:grpSpPr>
        <p:sp>
          <p:nvSpPr>
            <p:cNvPr name="Freeform 46" id="46"/>
            <p:cNvSpPr/>
            <p:nvPr/>
          </p:nvSpPr>
          <p:spPr>
            <a:xfrm flipH="false" flipV="false" rot="0">
              <a:off x="0" y="0"/>
              <a:ext cx="4146947" cy="518318"/>
            </a:xfrm>
            <a:custGeom>
              <a:avLst/>
              <a:gdLst/>
              <a:ahLst/>
              <a:cxnLst/>
              <a:rect r="r" b="b" t="t" l="l"/>
              <a:pathLst>
                <a:path h="518318" w="4146947">
                  <a:moveTo>
                    <a:pt x="0" y="0"/>
                  </a:moveTo>
                  <a:lnTo>
                    <a:pt x="4146947" y="0"/>
                  </a:lnTo>
                  <a:lnTo>
                    <a:pt x="4146947" y="518318"/>
                  </a:lnTo>
                  <a:lnTo>
                    <a:pt x="0" y="518318"/>
                  </a:lnTo>
                  <a:close/>
                </a:path>
              </a:pathLst>
            </a:custGeom>
            <a:solidFill>
              <a:srgbClr val="000000">
                <a:alpha val="0"/>
              </a:srgbClr>
            </a:solidFill>
          </p:spPr>
        </p:sp>
        <p:sp>
          <p:nvSpPr>
            <p:cNvPr name="TextBox 47" id="47"/>
            <p:cNvSpPr txBox="true"/>
            <p:nvPr/>
          </p:nvSpPr>
          <p:spPr>
            <a:xfrm>
              <a:off x="0" y="-9525"/>
              <a:ext cx="4146947" cy="527843"/>
            </a:xfrm>
            <a:prstGeom prst="rect">
              <a:avLst/>
            </a:prstGeom>
          </p:spPr>
          <p:txBody>
            <a:bodyPr anchor="t" rtlCol="false" tIns="0" lIns="0" bIns="0" rIns="0"/>
            <a:lstStyle/>
            <a:p>
              <a:pPr algn="ctr">
                <a:lnSpc>
                  <a:spcPts val="2999"/>
                </a:lnSpc>
              </a:pPr>
              <a:r>
                <a:rPr lang="en-US" sz="2437" b="true">
                  <a:solidFill>
                    <a:srgbClr val="DAD1E6"/>
                  </a:solidFill>
                  <a:latin typeface="Arimo Bold"/>
                  <a:ea typeface="Arimo Bold"/>
                  <a:cs typeface="Arimo Bold"/>
                  <a:sym typeface="Arimo Bold"/>
                </a:rPr>
                <a:t>Practice</a:t>
              </a:r>
            </a:p>
          </p:txBody>
        </p:sp>
      </p:grpSp>
      <p:grpSp>
        <p:nvGrpSpPr>
          <p:cNvPr name="Group 48" id="48"/>
          <p:cNvGrpSpPr/>
          <p:nvPr/>
        </p:nvGrpSpPr>
        <p:grpSpPr>
          <a:xfrm rot="0">
            <a:off x="7862292" y="5483126"/>
            <a:ext cx="5934670" cy="796230"/>
            <a:chOff x="0" y="0"/>
            <a:chExt cx="7912893" cy="1061640"/>
          </a:xfrm>
        </p:grpSpPr>
        <p:sp>
          <p:nvSpPr>
            <p:cNvPr name="Freeform 49" id="49"/>
            <p:cNvSpPr/>
            <p:nvPr/>
          </p:nvSpPr>
          <p:spPr>
            <a:xfrm flipH="false" flipV="false" rot="0">
              <a:off x="0" y="0"/>
              <a:ext cx="7912893" cy="1061640"/>
            </a:xfrm>
            <a:custGeom>
              <a:avLst/>
              <a:gdLst/>
              <a:ahLst/>
              <a:cxnLst/>
              <a:rect r="r" b="b" t="t" l="l"/>
              <a:pathLst>
                <a:path h="1061640" w="7912893">
                  <a:moveTo>
                    <a:pt x="0" y="0"/>
                  </a:moveTo>
                  <a:lnTo>
                    <a:pt x="7912893" y="0"/>
                  </a:lnTo>
                  <a:lnTo>
                    <a:pt x="7912893" y="1061640"/>
                  </a:lnTo>
                  <a:lnTo>
                    <a:pt x="0" y="1061640"/>
                  </a:lnTo>
                  <a:close/>
                </a:path>
              </a:pathLst>
            </a:custGeom>
            <a:solidFill>
              <a:srgbClr val="000000">
                <a:alpha val="0"/>
              </a:srgbClr>
            </a:solidFill>
          </p:spPr>
        </p:sp>
        <p:sp>
          <p:nvSpPr>
            <p:cNvPr name="TextBox 50" id="50"/>
            <p:cNvSpPr txBox="true"/>
            <p:nvPr/>
          </p:nvSpPr>
          <p:spPr>
            <a:xfrm>
              <a:off x="0" y="-76200"/>
              <a:ext cx="7912893" cy="1137840"/>
            </a:xfrm>
            <a:prstGeom prst="rect">
              <a:avLst/>
            </a:prstGeom>
          </p:spPr>
          <p:txBody>
            <a:bodyPr anchor="t" rtlCol="false" tIns="0" lIns="0" bIns="0" rIns="0"/>
            <a:lstStyle/>
            <a:p>
              <a:pPr algn="ctr">
                <a:lnSpc>
                  <a:spcPts val="3125"/>
                </a:lnSpc>
              </a:pPr>
              <a:r>
                <a:rPr lang="en-US" sz="1937">
                  <a:solidFill>
                    <a:srgbClr val="DAD1E6"/>
                  </a:solidFill>
                  <a:latin typeface="Fira Sans"/>
                  <a:ea typeface="Fira Sans"/>
                  <a:cs typeface="Fira Sans"/>
                  <a:sym typeface="Fira Sans"/>
                </a:rPr>
                <a:t>Create flashcards and take quizzes to reinforce your understanding.</a:t>
              </a:r>
            </a:p>
          </p:txBody>
        </p:sp>
      </p:grpSp>
      <p:grpSp>
        <p:nvGrpSpPr>
          <p:cNvPr name="Group 51" id="51"/>
          <p:cNvGrpSpPr/>
          <p:nvPr/>
        </p:nvGrpSpPr>
        <p:grpSpPr>
          <a:xfrm rot="0">
            <a:off x="14186744" y="7274495"/>
            <a:ext cx="28575" cy="746372"/>
            <a:chOff x="0" y="0"/>
            <a:chExt cx="38100" cy="995163"/>
          </a:xfrm>
        </p:grpSpPr>
        <p:sp>
          <p:nvSpPr>
            <p:cNvPr name="Freeform 52" id="52"/>
            <p:cNvSpPr/>
            <p:nvPr/>
          </p:nvSpPr>
          <p:spPr>
            <a:xfrm flipH="false" flipV="false" rot="0">
              <a:off x="0" y="0"/>
              <a:ext cx="38100" cy="995172"/>
            </a:xfrm>
            <a:custGeom>
              <a:avLst/>
              <a:gdLst/>
              <a:ahLst/>
              <a:cxnLst/>
              <a:rect r="r" b="b" t="t" l="l"/>
              <a:pathLst>
                <a:path h="995172" w="38100">
                  <a:moveTo>
                    <a:pt x="0" y="19050"/>
                  </a:moveTo>
                  <a:cubicBezTo>
                    <a:pt x="0" y="8509"/>
                    <a:pt x="8509" y="0"/>
                    <a:pt x="19050" y="0"/>
                  </a:cubicBezTo>
                  <a:cubicBezTo>
                    <a:pt x="29591" y="0"/>
                    <a:pt x="38100" y="8509"/>
                    <a:pt x="38100" y="19050"/>
                  </a:cubicBezTo>
                  <a:lnTo>
                    <a:pt x="38100" y="976122"/>
                  </a:lnTo>
                  <a:cubicBezTo>
                    <a:pt x="38100" y="986663"/>
                    <a:pt x="29591" y="995172"/>
                    <a:pt x="19050" y="995172"/>
                  </a:cubicBezTo>
                  <a:cubicBezTo>
                    <a:pt x="8509" y="995172"/>
                    <a:pt x="0" y="986663"/>
                    <a:pt x="0" y="976122"/>
                  </a:cubicBezTo>
                  <a:close/>
                </a:path>
              </a:pathLst>
            </a:custGeom>
            <a:solidFill>
              <a:srgbClr val="5C4E69"/>
            </a:solidFill>
          </p:spPr>
        </p:sp>
      </p:grpSp>
      <p:grpSp>
        <p:nvGrpSpPr>
          <p:cNvPr name="Group 53" id="53"/>
          <p:cNvGrpSpPr/>
          <p:nvPr/>
        </p:nvGrpSpPr>
        <p:grpSpPr>
          <a:xfrm rot="0">
            <a:off x="13921234" y="6994699"/>
            <a:ext cx="559743" cy="559743"/>
            <a:chOff x="0" y="0"/>
            <a:chExt cx="746323" cy="746323"/>
          </a:xfrm>
        </p:grpSpPr>
        <p:sp>
          <p:nvSpPr>
            <p:cNvPr name="Freeform 54" id="54"/>
            <p:cNvSpPr/>
            <p:nvPr/>
          </p:nvSpPr>
          <p:spPr>
            <a:xfrm flipH="false" flipV="false" rot="0">
              <a:off x="0" y="0"/>
              <a:ext cx="746379" cy="746379"/>
            </a:xfrm>
            <a:custGeom>
              <a:avLst/>
              <a:gdLst/>
              <a:ahLst/>
              <a:cxnLst/>
              <a:rect r="r" b="b" t="t" l="l"/>
              <a:pathLst>
                <a:path h="746379" w="746379">
                  <a:moveTo>
                    <a:pt x="0" y="49784"/>
                  </a:moveTo>
                  <a:cubicBezTo>
                    <a:pt x="0" y="22225"/>
                    <a:pt x="22225" y="0"/>
                    <a:pt x="49784" y="0"/>
                  </a:cubicBezTo>
                  <a:lnTo>
                    <a:pt x="696595" y="0"/>
                  </a:lnTo>
                  <a:cubicBezTo>
                    <a:pt x="724027" y="0"/>
                    <a:pt x="746379" y="22225"/>
                    <a:pt x="746379" y="49784"/>
                  </a:cubicBezTo>
                  <a:lnTo>
                    <a:pt x="746379" y="696595"/>
                  </a:lnTo>
                  <a:cubicBezTo>
                    <a:pt x="746379" y="724027"/>
                    <a:pt x="724154" y="746379"/>
                    <a:pt x="696595" y="746379"/>
                  </a:cubicBezTo>
                  <a:lnTo>
                    <a:pt x="49784" y="746379"/>
                  </a:lnTo>
                  <a:cubicBezTo>
                    <a:pt x="22225" y="746379"/>
                    <a:pt x="0" y="724027"/>
                    <a:pt x="0" y="696595"/>
                  </a:cubicBezTo>
                  <a:close/>
                </a:path>
              </a:pathLst>
            </a:custGeom>
            <a:solidFill>
              <a:srgbClr val="433550"/>
            </a:solidFill>
          </p:spPr>
        </p:sp>
      </p:grpSp>
      <p:grpSp>
        <p:nvGrpSpPr>
          <p:cNvPr name="Group 55" id="55"/>
          <p:cNvGrpSpPr/>
          <p:nvPr/>
        </p:nvGrpSpPr>
        <p:grpSpPr>
          <a:xfrm rot="0">
            <a:off x="14014475" y="7041281"/>
            <a:ext cx="373113" cy="466428"/>
            <a:chOff x="0" y="0"/>
            <a:chExt cx="497483" cy="621903"/>
          </a:xfrm>
        </p:grpSpPr>
        <p:sp>
          <p:nvSpPr>
            <p:cNvPr name="Freeform 56" id="56"/>
            <p:cNvSpPr/>
            <p:nvPr/>
          </p:nvSpPr>
          <p:spPr>
            <a:xfrm flipH="false" flipV="false" rot="0">
              <a:off x="0" y="0"/>
              <a:ext cx="497483" cy="621903"/>
            </a:xfrm>
            <a:custGeom>
              <a:avLst/>
              <a:gdLst/>
              <a:ahLst/>
              <a:cxnLst/>
              <a:rect r="r" b="b" t="t" l="l"/>
              <a:pathLst>
                <a:path h="621903" w="497483">
                  <a:moveTo>
                    <a:pt x="0" y="0"/>
                  </a:moveTo>
                  <a:lnTo>
                    <a:pt x="497483" y="0"/>
                  </a:lnTo>
                  <a:lnTo>
                    <a:pt x="497483" y="621903"/>
                  </a:lnTo>
                  <a:lnTo>
                    <a:pt x="0" y="621903"/>
                  </a:lnTo>
                  <a:close/>
                </a:path>
              </a:pathLst>
            </a:custGeom>
            <a:solidFill>
              <a:srgbClr val="000000">
                <a:alpha val="0"/>
              </a:srgbClr>
            </a:solidFill>
          </p:spPr>
        </p:sp>
        <p:sp>
          <p:nvSpPr>
            <p:cNvPr name="TextBox 57" id="57"/>
            <p:cNvSpPr txBox="true"/>
            <p:nvPr/>
          </p:nvSpPr>
          <p:spPr>
            <a:xfrm>
              <a:off x="0" y="38100"/>
              <a:ext cx="497483" cy="583803"/>
            </a:xfrm>
            <a:prstGeom prst="rect">
              <a:avLst/>
            </a:prstGeom>
          </p:spPr>
          <p:txBody>
            <a:bodyPr anchor="t" rtlCol="false" tIns="0" lIns="0" bIns="0" rIns="0"/>
            <a:lstStyle/>
            <a:p>
              <a:pPr algn="ctr">
                <a:lnSpc>
                  <a:spcPts val="2937"/>
                </a:lnSpc>
              </a:pPr>
              <a:r>
                <a:rPr lang="en-US" sz="2937" b="true">
                  <a:solidFill>
                    <a:srgbClr val="DAD1E6"/>
                  </a:solidFill>
                  <a:latin typeface="Arimo Bold"/>
                  <a:ea typeface="Arimo Bold"/>
                  <a:cs typeface="Arimo Bold"/>
                  <a:sym typeface="Arimo Bold"/>
                </a:rPr>
                <a:t>4</a:t>
              </a:r>
            </a:p>
          </p:txBody>
        </p:sp>
      </p:grpSp>
      <p:grpSp>
        <p:nvGrpSpPr>
          <p:cNvPr name="Group 58" id="58"/>
          <p:cNvGrpSpPr/>
          <p:nvPr/>
        </p:nvGrpSpPr>
        <p:grpSpPr>
          <a:xfrm rot="0">
            <a:off x="12646075" y="8269784"/>
            <a:ext cx="3110210" cy="388739"/>
            <a:chOff x="0" y="0"/>
            <a:chExt cx="4146947" cy="518318"/>
          </a:xfrm>
        </p:grpSpPr>
        <p:sp>
          <p:nvSpPr>
            <p:cNvPr name="Freeform 59" id="59"/>
            <p:cNvSpPr/>
            <p:nvPr/>
          </p:nvSpPr>
          <p:spPr>
            <a:xfrm flipH="false" flipV="false" rot="0">
              <a:off x="0" y="0"/>
              <a:ext cx="4146947" cy="518318"/>
            </a:xfrm>
            <a:custGeom>
              <a:avLst/>
              <a:gdLst/>
              <a:ahLst/>
              <a:cxnLst/>
              <a:rect r="r" b="b" t="t" l="l"/>
              <a:pathLst>
                <a:path h="518318" w="4146947">
                  <a:moveTo>
                    <a:pt x="0" y="0"/>
                  </a:moveTo>
                  <a:lnTo>
                    <a:pt x="4146947" y="0"/>
                  </a:lnTo>
                  <a:lnTo>
                    <a:pt x="4146947" y="518318"/>
                  </a:lnTo>
                  <a:lnTo>
                    <a:pt x="0" y="518318"/>
                  </a:lnTo>
                  <a:close/>
                </a:path>
              </a:pathLst>
            </a:custGeom>
            <a:solidFill>
              <a:srgbClr val="000000">
                <a:alpha val="0"/>
              </a:srgbClr>
            </a:solidFill>
          </p:spPr>
        </p:sp>
        <p:sp>
          <p:nvSpPr>
            <p:cNvPr name="TextBox 60" id="60"/>
            <p:cNvSpPr txBox="true"/>
            <p:nvPr/>
          </p:nvSpPr>
          <p:spPr>
            <a:xfrm>
              <a:off x="0" y="-9525"/>
              <a:ext cx="4146947" cy="527843"/>
            </a:xfrm>
            <a:prstGeom prst="rect">
              <a:avLst/>
            </a:prstGeom>
          </p:spPr>
          <p:txBody>
            <a:bodyPr anchor="t" rtlCol="false" tIns="0" lIns="0" bIns="0" rIns="0"/>
            <a:lstStyle/>
            <a:p>
              <a:pPr algn="ctr">
                <a:lnSpc>
                  <a:spcPts val="2999"/>
                </a:lnSpc>
              </a:pPr>
              <a:r>
                <a:rPr lang="en-US" sz="2437" b="true">
                  <a:solidFill>
                    <a:srgbClr val="DAD1E6"/>
                  </a:solidFill>
                  <a:latin typeface="Arimo Bold"/>
                  <a:ea typeface="Arimo Bold"/>
                  <a:cs typeface="Arimo Bold"/>
                  <a:sym typeface="Arimo Bold"/>
                </a:rPr>
                <a:t>Optimize</a:t>
              </a:r>
            </a:p>
          </p:txBody>
        </p:sp>
      </p:grpSp>
      <p:grpSp>
        <p:nvGrpSpPr>
          <p:cNvPr name="Group 61" id="61"/>
          <p:cNvGrpSpPr/>
          <p:nvPr/>
        </p:nvGrpSpPr>
        <p:grpSpPr>
          <a:xfrm rot="0">
            <a:off x="11233845" y="8807798"/>
            <a:ext cx="5934670" cy="796230"/>
            <a:chOff x="0" y="0"/>
            <a:chExt cx="7912893" cy="1061640"/>
          </a:xfrm>
        </p:grpSpPr>
        <p:sp>
          <p:nvSpPr>
            <p:cNvPr name="Freeform 62" id="62"/>
            <p:cNvSpPr/>
            <p:nvPr/>
          </p:nvSpPr>
          <p:spPr>
            <a:xfrm flipH="false" flipV="false" rot="0">
              <a:off x="0" y="0"/>
              <a:ext cx="7912893" cy="1061640"/>
            </a:xfrm>
            <a:custGeom>
              <a:avLst/>
              <a:gdLst/>
              <a:ahLst/>
              <a:cxnLst/>
              <a:rect r="r" b="b" t="t" l="l"/>
              <a:pathLst>
                <a:path h="1061640" w="7912893">
                  <a:moveTo>
                    <a:pt x="0" y="0"/>
                  </a:moveTo>
                  <a:lnTo>
                    <a:pt x="7912893" y="0"/>
                  </a:lnTo>
                  <a:lnTo>
                    <a:pt x="7912893" y="1061640"/>
                  </a:lnTo>
                  <a:lnTo>
                    <a:pt x="0" y="1061640"/>
                  </a:lnTo>
                  <a:close/>
                </a:path>
              </a:pathLst>
            </a:custGeom>
            <a:solidFill>
              <a:srgbClr val="000000">
                <a:alpha val="0"/>
              </a:srgbClr>
            </a:solidFill>
          </p:spPr>
        </p:sp>
        <p:sp>
          <p:nvSpPr>
            <p:cNvPr name="TextBox 63" id="63"/>
            <p:cNvSpPr txBox="true"/>
            <p:nvPr/>
          </p:nvSpPr>
          <p:spPr>
            <a:xfrm>
              <a:off x="0" y="-76200"/>
              <a:ext cx="7912893" cy="1137840"/>
            </a:xfrm>
            <a:prstGeom prst="rect">
              <a:avLst/>
            </a:prstGeom>
          </p:spPr>
          <p:txBody>
            <a:bodyPr anchor="t" rtlCol="false" tIns="0" lIns="0" bIns="0" rIns="0"/>
            <a:lstStyle/>
            <a:p>
              <a:pPr algn="ctr">
                <a:lnSpc>
                  <a:spcPts val="3125"/>
                </a:lnSpc>
              </a:pPr>
              <a:r>
                <a:rPr lang="en-US" sz="1937">
                  <a:solidFill>
                    <a:srgbClr val="DAD1E6"/>
                  </a:solidFill>
                  <a:latin typeface="Fira Sans"/>
                  <a:ea typeface="Fira Sans"/>
                  <a:cs typeface="Fira Sans"/>
                  <a:sym typeface="Fira Sans"/>
                </a:rPr>
                <a:t>Receive personalized reminders and track your progress over time.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p:cNvSpPr/>
          <p:nvPr/>
        </p:nvSpPr>
        <p:spPr>
          <a:xfrm flipH="false" flipV="false" rot="0">
            <a:off x="0" y="0"/>
            <a:ext cx="18288000" cy="3544044"/>
          </a:xfrm>
          <a:custGeom>
            <a:avLst/>
            <a:gdLst/>
            <a:ahLst/>
            <a:cxnLst/>
            <a:rect r="r" b="b" t="t" l="l"/>
            <a:pathLst>
              <a:path h="3544044" w="18288000">
                <a:moveTo>
                  <a:pt x="0" y="0"/>
                </a:moveTo>
                <a:lnTo>
                  <a:pt x="18288000" y="0"/>
                </a:lnTo>
                <a:lnTo>
                  <a:pt x="18288000" y="3544044"/>
                </a:lnTo>
                <a:lnTo>
                  <a:pt x="0" y="3544044"/>
                </a:lnTo>
                <a:lnTo>
                  <a:pt x="0" y="0"/>
                </a:lnTo>
                <a:close/>
              </a:path>
            </a:pathLst>
          </a:custGeom>
          <a:blipFill>
            <a:blip r:embed="rId3"/>
            <a:stretch>
              <a:fillRect l="-10" t="0" r="-10" b="0"/>
            </a:stretch>
          </a:blipFill>
        </p:spPr>
      </p:sp>
      <p:grpSp>
        <p:nvGrpSpPr>
          <p:cNvPr name="Group 7" id="7"/>
          <p:cNvGrpSpPr/>
          <p:nvPr/>
        </p:nvGrpSpPr>
        <p:grpSpPr>
          <a:xfrm rot="0">
            <a:off x="992238" y="4762649"/>
            <a:ext cx="7088237" cy="885974"/>
            <a:chOff x="0" y="0"/>
            <a:chExt cx="9450983" cy="1181298"/>
          </a:xfrm>
        </p:grpSpPr>
        <p:sp>
          <p:nvSpPr>
            <p:cNvPr name="Freeform 8" id="8"/>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9" id="9"/>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Challenges</a:t>
              </a:r>
            </a:p>
          </p:txBody>
        </p:sp>
      </p:grpSp>
      <p:grpSp>
        <p:nvGrpSpPr>
          <p:cNvPr name="Group 10" id="10"/>
          <p:cNvGrpSpPr/>
          <p:nvPr/>
        </p:nvGrpSpPr>
        <p:grpSpPr>
          <a:xfrm rot="0">
            <a:off x="992238" y="6073825"/>
            <a:ext cx="5245447" cy="2994571"/>
            <a:chOff x="0" y="0"/>
            <a:chExt cx="6993930" cy="3992762"/>
          </a:xfrm>
        </p:grpSpPr>
        <p:sp>
          <p:nvSpPr>
            <p:cNvPr name="Freeform 11" id="11"/>
            <p:cNvSpPr/>
            <p:nvPr/>
          </p:nvSpPr>
          <p:spPr>
            <a:xfrm flipH="false" flipV="false" rot="0">
              <a:off x="0" y="0"/>
              <a:ext cx="6993890" cy="3992753"/>
            </a:xfrm>
            <a:custGeom>
              <a:avLst/>
              <a:gdLst/>
              <a:ahLst/>
              <a:cxnLst/>
              <a:rect r="r" b="b" t="t" l="l"/>
              <a:pathLst>
                <a:path h="3992753" w="6993890">
                  <a:moveTo>
                    <a:pt x="0" y="56642"/>
                  </a:moveTo>
                  <a:cubicBezTo>
                    <a:pt x="0" y="25400"/>
                    <a:pt x="25400" y="0"/>
                    <a:pt x="56642" y="0"/>
                  </a:cubicBezTo>
                  <a:lnTo>
                    <a:pt x="6937248" y="0"/>
                  </a:lnTo>
                  <a:cubicBezTo>
                    <a:pt x="6968617" y="0"/>
                    <a:pt x="6993890" y="25400"/>
                    <a:pt x="6993890" y="56642"/>
                  </a:cubicBezTo>
                  <a:lnTo>
                    <a:pt x="6993890" y="3936111"/>
                  </a:lnTo>
                  <a:cubicBezTo>
                    <a:pt x="6993890" y="3967480"/>
                    <a:pt x="6968490" y="3992753"/>
                    <a:pt x="6937248" y="3992753"/>
                  </a:cubicBezTo>
                  <a:lnTo>
                    <a:pt x="56642" y="3992753"/>
                  </a:lnTo>
                  <a:cubicBezTo>
                    <a:pt x="25273" y="3992753"/>
                    <a:pt x="0" y="3967353"/>
                    <a:pt x="0" y="3936111"/>
                  </a:cubicBezTo>
                  <a:close/>
                </a:path>
              </a:pathLst>
            </a:custGeom>
            <a:solidFill>
              <a:srgbClr val="433550"/>
            </a:solidFill>
          </p:spPr>
        </p:sp>
      </p:grpSp>
      <p:grpSp>
        <p:nvGrpSpPr>
          <p:cNvPr name="Group 12" id="12"/>
          <p:cNvGrpSpPr/>
          <p:nvPr/>
        </p:nvGrpSpPr>
        <p:grpSpPr>
          <a:xfrm rot="0">
            <a:off x="1275755" y="6357342"/>
            <a:ext cx="3544044" cy="442912"/>
            <a:chOff x="0" y="0"/>
            <a:chExt cx="4725392" cy="590550"/>
          </a:xfrm>
        </p:grpSpPr>
        <p:sp>
          <p:nvSpPr>
            <p:cNvPr name="Freeform 13" id="13"/>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14" id="14"/>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Data Privacy</a:t>
              </a:r>
            </a:p>
          </p:txBody>
        </p:sp>
      </p:grpSp>
      <p:grpSp>
        <p:nvGrpSpPr>
          <p:cNvPr name="Group 15" id="15"/>
          <p:cNvGrpSpPr/>
          <p:nvPr/>
        </p:nvGrpSpPr>
        <p:grpSpPr>
          <a:xfrm rot="0">
            <a:off x="1275755" y="6970365"/>
            <a:ext cx="4678412" cy="1814512"/>
            <a:chOff x="0" y="0"/>
            <a:chExt cx="6237883" cy="2419350"/>
          </a:xfrm>
        </p:grpSpPr>
        <p:sp>
          <p:nvSpPr>
            <p:cNvPr name="Freeform 16" id="16"/>
            <p:cNvSpPr/>
            <p:nvPr/>
          </p:nvSpPr>
          <p:spPr>
            <a:xfrm flipH="false" flipV="false" rot="0">
              <a:off x="0" y="0"/>
              <a:ext cx="6237883" cy="2419350"/>
            </a:xfrm>
            <a:custGeom>
              <a:avLst/>
              <a:gdLst/>
              <a:ahLst/>
              <a:cxnLst/>
              <a:rect r="r" b="b" t="t" l="l"/>
              <a:pathLst>
                <a:path h="2419350" w="6237883">
                  <a:moveTo>
                    <a:pt x="0" y="0"/>
                  </a:moveTo>
                  <a:lnTo>
                    <a:pt x="6237883" y="0"/>
                  </a:lnTo>
                  <a:lnTo>
                    <a:pt x="6237883" y="2419350"/>
                  </a:lnTo>
                  <a:lnTo>
                    <a:pt x="0" y="2419350"/>
                  </a:lnTo>
                  <a:close/>
                </a:path>
              </a:pathLst>
            </a:custGeom>
            <a:solidFill>
              <a:srgbClr val="000000">
                <a:alpha val="0"/>
              </a:srgbClr>
            </a:solidFill>
          </p:spPr>
        </p:sp>
        <p:sp>
          <p:nvSpPr>
            <p:cNvPr name="TextBox 17" id="17"/>
            <p:cNvSpPr txBox="true"/>
            <p:nvPr/>
          </p:nvSpPr>
          <p:spPr>
            <a:xfrm>
              <a:off x="0" y="-95250"/>
              <a:ext cx="6237883" cy="2514600"/>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Ensuring the secure handling and storage of user data, including study materials and personal information.</a:t>
              </a:r>
            </a:p>
          </p:txBody>
        </p:sp>
      </p:grpSp>
      <p:grpSp>
        <p:nvGrpSpPr>
          <p:cNvPr name="Group 18" id="18"/>
          <p:cNvGrpSpPr/>
          <p:nvPr/>
        </p:nvGrpSpPr>
        <p:grpSpPr>
          <a:xfrm rot="0">
            <a:off x="6521202" y="6073825"/>
            <a:ext cx="5245447" cy="2994571"/>
            <a:chOff x="0" y="0"/>
            <a:chExt cx="6993930" cy="3992762"/>
          </a:xfrm>
        </p:grpSpPr>
        <p:sp>
          <p:nvSpPr>
            <p:cNvPr name="Freeform 19" id="19"/>
            <p:cNvSpPr/>
            <p:nvPr/>
          </p:nvSpPr>
          <p:spPr>
            <a:xfrm flipH="false" flipV="false" rot="0">
              <a:off x="0" y="0"/>
              <a:ext cx="6993890" cy="3992753"/>
            </a:xfrm>
            <a:custGeom>
              <a:avLst/>
              <a:gdLst/>
              <a:ahLst/>
              <a:cxnLst/>
              <a:rect r="r" b="b" t="t" l="l"/>
              <a:pathLst>
                <a:path h="3992753" w="6993890">
                  <a:moveTo>
                    <a:pt x="0" y="56642"/>
                  </a:moveTo>
                  <a:cubicBezTo>
                    <a:pt x="0" y="25400"/>
                    <a:pt x="25400" y="0"/>
                    <a:pt x="56642" y="0"/>
                  </a:cubicBezTo>
                  <a:lnTo>
                    <a:pt x="6937248" y="0"/>
                  </a:lnTo>
                  <a:cubicBezTo>
                    <a:pt x="6968617" y="0"/>
                    <a:pt x="6993890" y="25400"/>
                    <a:pt x="6993890" y="56642"/>
                  </a:cubicBezTo>
                  <a:lnTo>
                    <a:pt x="6993890" y="3936111"/>
                  </a:lnTo>
                  <a:cubicBezTo>
                    <a:pt x="6993890" y="3967480"/>
                    <a:pt x="6968490" y="3992753"/>
                    <a:pt x="6937248" y="3992753"/>
                  </a:cubicBezTo>
                  <a:lnTo>
                    <a:pt x="56642" y="3992753"/>
                  </a:lnTo>
                  <a:cubicBezTo>
                    <a:pt x="25273" y="3992753"/>
                    <a:pt x="0" y="3967353"/>
                    <a:pt x="0" y="3936111"/>
                  </a:cubicBezTo>
                  <a:close/>
                </a:path>
              </a:pathLst>
            </a:custGeom>
            <a:solidFill>
              <a:srgbClr val="433550"/>
            </a:solidFill>
          </p:spPr>
        </p:sp>
      </p:grpSp>
      <p:grpSp>
        <p:nvGrpSpPr>
          <p:cNvPr name="Group 20" id="20"/>
          <p:cNvGrpSpPr/>
          <p:nvPr/>
        </p:nvGrpSpPr>
        <p:grpSpPr>
          <a:xfrm rot="0">
            <a:off x="6804720" y="6357342"/>
            <a:ext cx="3544044" cy="442912"/>
            <a:chOff x="0" y="0"/>
            <a:chExt cx="4725392" cy="590550"/>
          </a:xfrm>
        </p:grpSpPr>
        <p:sp>
          <p:nvSpPr>
            <p:cNvPr name="Freeform 21" id="21"/>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22" id="22"/>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AI Limitations</a:t>
              </a:r>
            </a:p>
          </p:txBody>
        </p:sp>
      </p:grpSp>
      <p:grpSp>
        <p:nvGrpSpPr>
          <p:cNvPr name="Group 23" id="23"/>
          <p:cNvGrpSpPr/>
          <p:nvPr/>
        </p:nvGrpSpPr>
        <p:grpSpPr>
          <a:xfrm rot="0">
            <a:off x="6804720" y="6970365"/>
            <a:ext cx="4678412" cy="1814512"/>
            <a:chOff x="0" y="0"/>
            <a:chExt cx="6237883" cy="2419350"/>
          </a:xfrm>
        </p:grpSpPr>
        <p:sp>
          <p:nvSpPr>
            <p:cNvPr name="Freeform 24" id="24"/>
            <p:cNvSpPr/>
            <p:nvPr/>
          </p:nvSpPr>
          <p:spPr>
            <a:xfrm flipH="false" flipV="false" rot="0">
              <a:off x="0" y="0"/>
              <a:ext cx="6237883" cy="2419350"/>
            </a:xfrm>
            <a:custGeom>
              <a:avLst/>
              <a:gdLst/>
              <a:ahLst/>
              <a:cxnLst/>
              <a:rect r="r" b="b" t="t" l="l"/>
              <a:pathLst>
                <a:path h="2419350" w="6237883">
                  <a:moveTo>
                    <a:pt x="0" y="0"/>
                  </a:moveTo>
                  <a:lnTo>
                    <a:pt x="6237883" y="0"/>
                  </a:lnTo>
                  <a:lnTo>
                    <a:pt x="6237883" y="2419350"/>
                  </a:lnTo>
                  <a:lnTo>
                    <a:pt x="0" y="2419350"/>
                  </a:lnTo>
                  <a:close/>
                </a:path>
              </a:pathLst>
            </a:custGeom>
            <a:solidFill>
              <a:srgbClr val="000000">
                <a:alpha val="0"/>
              </a:srgbClr>
            </a:solidFill>
          </p:spPr>
        </p:sp>
        <p:sp>
          <p:nvSpPr>
            <p:cNvPr name="TextBox 25" id="25"/>
            <p:cNvSpPr txBox="true"/>
            <p:nvPr/>
          </p:nvSpPr>
          <p:spPr>
            <a:xfrm>
              <a:off x="0" y="-95250"/>
              <a:ext cx="6237883" cy="2514600"/>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Addressing the potential limitations and biases inherent in the AI-powered features, such as the summarizer.</a:t>
              </a:r>
            </a:p>
          </p:txBody>
        </p:sp>
      </p:grpSp>
      <p:grpSp>
        <p:nvGrpSpPr>
          <p:cNvPr name="Group 26" id="26"/>
          <p:cNvGrpSpPr/>
          <p:nvPr/>
        </p:nvGrpSpPr>
        <p:grpSpPr>
          <a:xfrm rot="0">
            <a:off x="12050166" y="6073825"/>
            <a:ext cx="5245447" cy="2994571"/>
            <a:chOff x="0" y="0"/>
            <a:chExt cx="6993930" cy="3992762"/>
          </a:xfrm>
        </p:grpSpPr>
        <p:sp>
          <p:nvSpPr>
            <p:cNvPr name="Freeform 27" id="27"/>
            <p:cNvSpPr/>
            <p:nvPr/>
          </p:nvSpPr>
          <p:spPr>
            <a:xfrm flipH="false" flipV="false" rot="0">
              <a:off x="0" y="0"/>
              <a:ext cx="6993890" cy="3992753"/>
            </a:xfrm>
            <a:custGeom>
              <a:avLst/>
              <a:gdLst/>
              <a:ahLst/>
              <a:cxnLst/>
              <a:rect r="r" b="b" t="t" l="l"/>
              <a:pathLst>
                <a:path h="3992753" w="6993890">
                  <a:moveTo>
                    <a:pt x="0" y="56642"/>
                  </a:moveTo>
                  <a:cubicBezTo>
                    <a:pt x="0" y="25400"/>
                    <a:pt x="25400" y="0"/>
                    <a:pt x="56642" y="0"/>
                  </a:cubicBezTo>
                  <a:lnTo>
                    <a:pt x="6937248" y="0"/>
                  </a:lnTo>
                  <a:cubicBezTo>
                    <a:pt x="6968617" y="0"/>
                    <a:pt x="6993890" y="25400"/>
                    <a:pt x="6993890" y="56642"/>
                  </a:cubicBezTo>
                  <a:lnTo>
                    <a:pt x="6993890" y="3936111"/>
                  </a:lnTo>
                  <a:cubicBezTo>
                    <a:pt x="6993890" y="3967480"/>
                    <a:pt x="6968490" y="3992753"/>
                    <a:pt x="6937248" y="3992753"/>
                  </a:cubicBezTo>
                  <a:lnTo>
                    <a:pt x="56642" y="3992753"/>
                  </a:lnTo>
                  <a:cubicBezTo>
                    <a:pt x="25273" y="3992753"/>
                    <a:pt x="0" y="3967353"/>
                    <a:pt x="0" y="3936111"/>
                  </a:cubicBezTo>
                  <a:close/>
                </a:path>
              </a:pathLst>
            </a:custGeom>
            <a:solidFill>
              <a:srgbClr val="433550"/>
            </a:solidFill>
          </p:spPr>
        </p:sp>
      </p:grpSp>
      <p:grpSp>
        <p:nvGrpSpPr>
          <p:cNvPr name="Group 28" id="28"/>
          <p:cNvGrpSpPr/>
          <p:nvPr/>
        </p:nvGrpSpPr>
        <p:grpSpPr>
          <a:xfrm rot="0">
            <a:off x="12333685" y="6357342"/>
            <a:ext cx="3544044" cy="442912"/>
            <a:chOff x="0" y="0"/>
            <a:chExt cx="4725392" cy="590550"/>
          </a:xfrm>
        </p:grpSpPr>
        <p:sp>
          <p:nvSpPr>
            <p:cNvPr name="Freeform 29" id="29"/>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30" id="30"/>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User Adoption</a:t>
              </a:r>
            </a:p>
          </p:txBody>
        </p:sp>
      </p:grpSp>
      <p:grpSp>
        <p:nvGrpSpPr>
          <p:cNvPr name="Group 31" id="31"/>
          <p:cNvGrpSpPr/>
          <p:nvPr/>
        </p:nvGrpSpPr>
        <p:grpSpPr>
          <a:xfrm rot="0">
            <a:off x="12333685" y="6970365"/>
            <a:ext cx="4678413" cy="1814512"/>
            <a:chOff x="0" y="0"/>
            <a:chExt cx="6237883" cy="2419350"/>
          </a:xfrm>
        </p:grpSpPr>
        <p:sp>
          <p:nvSpPr>
            <p:cNvPr name="Freeform 32" id="32"/>
            <p:cNvSpPr/>
            <p:nvPr/>
          </p:nvSpPr>
          <p:spPr>
            <a:xfrm flipH="false" flipV="false" rot="0">
              <a:off x="0" y="0"/>
              <a:ext cx="6237883" cy="2419350"/>
            </a:xfrm>
            <a:custGeom>
              <a:avLst/>
              <a:gdLst/>
              <a:ahLst/>
              <a:cxnLst/>
              <a:rect r="r" b="b" t="t" l="l"/>
              <a:pathLst>
                <a:path h="2419350" w="6237883">
                  <a:moveTo>
                    <a:pt x="0" y="0"/>
                  </a:moveTo>
                  <a:lnTo>
                    <a:pt x="6237883" y="0"/>
                  </a:lnTo>
                  <a:lnTo>
                    <a:pt x="6237883" y="2419350"/>
                  </a:lnTo>
                  <a:lnTo>
                    <a:pt x="0" y="2419350"/>
                  </a:lnTo>
                  <a:close/>
                </a:path>
              </a:pathLst>
            </a:custGeom>
            <a:solidFill>
              <a:srgbClr val="000000">
                <a:alpha val="0"/>
              </a:srgbClr>
            </a:solidFill>
          </p:spPr>
        </p:sp>
        <p:sp>
          <p:nvSpPr>
            <p:cNvPr name="TextBox 33" id="33"/>
            <p:cNvSpPr txBox="true"/>
            <p:nvPr/>
          </p:nvSpPr>
          <p:spPr>
            <a:xfrm>
              <a:off x="0" y="-95250"/>
              <a:ext cx="6237883" cy="2514600"/>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Encouraging widespread adoption of the platform among students and educators, who may be resistant to change.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grpSp>
        <p:nvGrpSpPr>
          <p:cNvPr name="Group 6" id="6"/>
          <p:cNvGrpSpPr/>
          <p:nvPr/>
        </p:nvGrpSpPr>
        <p:grpSpPr>
          <a:xfrm rot="0">
            <a:off x="992238" y="1215181"/>
            <a:ext cx="7088237" cy="885974"/>
            <a:chOff x="0" y="0"/>
            <a:chExt cx="9450983" cy="1181298"/>
          </a:xfrm>
        </p:grpSpPr>
        <p:sp>
          <p:nvSpPr>
            <p:cNvPr name="Freeform 7" id="7"/>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8" id="8"/>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Future Enhancements</a:t>
              </a:r>
            </a:p>
          </p:txBody>
        </p:sp>
      </p:grpSp>
      <p:sp>
        <p:nvSpPr>
          <p:cNvPr name="Freeform 9" id="9" descr="preencoded.png"/>
          <p:cNvSpPr/>
          <p:nvPr/>
        </p:nvSpPr>
        <p:spPr>
          <a:xfrm flipH="false" flipV="false" rot="0">
            <a:off x="3722935" y="2668191"/>
            <a:ext cx="2690069" cy="2087315"/>
          </a:xfrm>
          <a:custGeom>
            <a:avLst/>
            <a:gdLst/>
            <a:ahLst/>
            <a:cxnLst/>
            <a:rect r="r" b="b" t="t" l="l"/>
            <a:pathLst>
              <a:path h="2087315" w="2690069">
                <a:moveTo>
                  <a:pt x="0" y="0"/>
                </a:moveTo>
                <a:lnTo>
                  <a:pt x="2690069" y="0"/>
                </a:lnTo>
                <a:lnTo>
                  <a:pt x="2690069" y="2087315"/>
                </a:lnTo>
                <a:lnTo>
                  <a:pt x="0" y="2087315"/>
                </a:lnTo>
                <a:lnTo>
                  <a:pt x="0" y="0"/>
                </a:lnTo>
                <a:close/>
              </a:path>
            </a:pathLst>
          </a:custGeom>
          <a:blipFill>
            <a:blip r:embed="rId3"/>
            <a:stretch>
              <a:fillRect l="0" t="-42" r="0" b="-42"/>
            </a:stretch>
          </a:blipFill>
        </p:spPr>
      </p:sp>
      <p:sp>
        <p:nvSpPr>
          <p:cNvPr name="Freeform 10" id="10" descr="preencoded.png"/>
          <p:cNvSpPr/>
          <p:nvPr/>
        </p:nvSpPr>
        <p:spPr>
          <a:xfrm flipH="false" flipV="false" rot="0">
            <a:off x="4868615" y="3733205"/>
            <a:ext cx="398710" cy="498276"/>
          </a:xfrm>
          <a:custGeom>
            <a:avLst/>
            <a:gdLst/>
            <a:ahLst/>
            <a:cxnLst/>
            <a:rect r="r" b="b" t="t" l="l"/>
            <a:pathLst>
              <a:path h="498276" w="398710">
                <a:moveTo>
                  <a:pt x="0" y="0"/>
                </a:moveTo>
                <a:lnTo>
                  <a:pt x="398710" y="0"/>
                </a:lnTo>
                <a:lnTo>
                  <a:pt x="398710" y="498276"/>
                </a:lnTo>
                <a:lnTo>
                  <a:pt x="0" y="498276"/>
                </a:lnTo>
                <a:lnTo>
                  <a:pt x="0" y="0"/>
                </a:lnTo>
                <a:close/>
              </a:path>
            </a:pathLst>
          </a:custGeom>
          <a:blipFill>
            <a:blip r:embed="rId4"/>
            <a:stretch>
              <a:fillRect l="-469" t="0" r="-469" b="0"/>
            </a:stretch>
          </a:blipFill>
        </p:spPr>
      </p:sp>
      <p:grpSp>
        <p:nvGrpSpPr>
          <p:cNvPr name="Group 11" id="11"/>
          <p:cNvGrpSpPr/>
          <p:nvPr/>
        </p:nvGrpSpPr>
        <p:grpSpPr>
          <a:xfrm rot="0">
            <a:off x="6696521" y="2951709"/>
            <a:ext cx="3544044" cy="442912"/>
            <a:chOff x="0" y="0"/>
            <a:chExt cx="4725392" cy="590550"/>
          </a:xfrm>
        </p:grpSpPr>
        <p:sp>
          <p:nvSpPr>
            <p:cNvPr name="Freeform 12" id="12"/>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13" id="13"/>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Adaptive Learning</a:t>
              </a:r>
            </a:p>
          </p:txBody>
        </p:sp>
      </p:grpSp>
      <p:grpSp>
        <p:nvGrpSpPr>
          <p:cNvPr name="Group 14" id="14"/>
          <p:cNvGrpSpPr/>
          <p:nvPr/>
        </p:nvGrpSpPr>
        <p:grpSpPr>
          <a:xfrm rot="0">
            <a:off x="6696521" y="3564731"/>
            <a:ext cx="10315724" cy="907256"/>
            <a:chOff x="0" y="0"/>
            <a:chExt cx="13754298" cy="1209675"/>
          </a:xfrm>
        </p:grpSpPr>
        <p:sp>
          <p:nvSpPr>
            <p:cNvPr name="Freeform 15" id="15"/>
            <p:cNvSpPr/>
            <p:nvPr/>
          </p:nvSpPr>
          <p:spPr>
            <a:xfrm flipH="false" flipV="false" rot="0">
              <a:off x="0" y="0"/>
              <a:ext cx="13754298" cy="1209675"/>
            </a:xfrm>
            <a:custGeom>
              <a:avLst/>
              <a:gdLst/>
              <a:ahLst/>
              <a:cxnLst/>
              <a:rect r="r" b="b" t="t" l="l"/>
              <a:pathLst>
                <a:path h="1209675" w="13754298">
                  <a:moveTo>
                    <a:pt x="0" y="0"/>
                  </a:moveTo>
                  <a:lnTo>
                    <a:pt x="13754298" y="0"/>
                  </a:lnTo>
                  <a:lnTo>
                    <a:pt x="13754298" y="1209675"/>
                  </a:lnTo>
                  <a:lnTo>
                    <a:pt x="0" y="1209675"/>
                  </a:lnTo>
                  <a:close/>
                </a:path>
              </a:pathLst>
            </a:custGeom>
            <a:solidFill>
              <a:srgbClr val="000000">
                <a:alpha val="0"/>
              </a:srgbClr>
            </a:solidFill>
          </p:spPr>
        </p:sp>
        <p:sp>
          <p:nvSpPr>
            <p:cNvPr name="TextBox 16" id="16"/>
            <p:cNvSpPr txBox="true"/>
            <p:nvPr/>
          </p:nvSpPr>
          <p:spPr>
            <a:xfrm>
              <a:off x="0" y="-95250"/>
              <a:ext cx="13754298" cy="1304925"/>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Develop advanced AI algorithms to create truly personalized learning experiences.</a:t>
              </a:r>
            </a:p>
          </p:txBody>
        </p:sp>
      </p:grpSp>
      <p:grpSp>
        <p:nvGrpSpPr>
          <p:cNvPr name="Group 17" id="17"/>
          <p:cNvGrpSpPr/>
          <p:nvPr/>
        </p:nvGrpSpPr>
        <p:grpSpPr>
          <a:xfrm rot="0">
            <a:off x="6483846" y="4771876"/>
            <a:ext cx="10741075" cy="19050"/>
            <a:chOff x="0" y="0"/>
            <a:chExt cx="14321433" cy="25400"/>
          </a:xfrm>
        </p:grpSpPr>
        <p:sp>
          <p:nvSpPr>
            <p:cNvPr name="Freeform 18" id="18"/>
            <p:cNvSpPr/>
            <p:nvPr/>
          </p:nvSpPr>
          <p:spPr>
            <a:xfrm flipH="false" flipV="false" rot="0">
              <a:off x="0" y="0"/>
              <a:ext cx="14321410" cy="25400"/>
            </a:xfrm>
            <a:custGeom>
              <a:avLst/>
              <a:gdLst/>
              <a:ahLst/>
              <a:cxnLst/>
              <a:rect r="r" b="b" t="t" l="l"/>
              <a:pathLst>
                <a:path h="25400" w="14321410">
                  <a:moveTo>
                    <a:pt x="0" y="12700"/>
                  </a:moveTo>
                  <a:cubicBezTo>
                    <a:pt x="0" y="5715"/>
                    <a:pt x="5715" y="0"/>
                    <a:pt x="12700" y="0"/>
                  </a:cubicBezTo>
                  <a:lnTo>
                    <a:pt x="14308710" y="0"/>
                  </a:lnTo>
                  <a:cubicBezTo>
                    <a:pt x="14315695" y="0"/>
                    <a:pt x="14321410" y="5715"/>
                    <a:pt x="14321410" y="12700"/>
                  </a:cubicBezTo>
                  <a:cubicBezTo>
                    <a:pt x="14321410" y="19685"/>
                    <a:pt x="14315695" y="25400"/>
                    <a:pt x="14308710" y="25400"/>
                  </a:cubicBezTo>
                  <a:lnTo>
                    <a:pt x="12700" y="25400"/>
                  </a:lnTo>
                  <a:cubicBezTo>
                    <a:pt x="5715" y="25400"/>
                    <a:pt x="0" y="19685"/>
                    <a:pt x="0" y="12700"/>
                  </a:cubicBezTo>
                  <a:close/>
                </a:path>
              </a:pathLst>
            </a:custGeom>
            <a:solidFill>
              <a:srgbClr val="5C4E69"/>
            </a:solidFill>
          </p:spPr>
        </p:sp>
      </p:grpSp>
      <p:sp>
        <p:nvSpPr>
          <p:cNvPr name="Freeform 19" id="19" descr="preencoded.png"/>
          <p:cNvSpPr/>
          <p:nvPr/>
        </p:nvSpPr>
        <p:spPr>
          <a:xfrm flipH="false" flipV="false" rot="0">
            <a:off x="2377976" y="4826348"/>
            <a:ext cx="5380136" cy="2087315"/>
          </a:xfrm>
          <a:custGeom>
            <a:avLst/>
            <a:gdLst/>
            <a:ahLst/>
            <a:cxnLst/>
            <a:rect r="r" b="b" t="t" l="l"/>
            <a:pathLst>
              <a:path h="2087315" w="5380136">
                <a:moveTo>
                  <a:pt x="0" y="0"/>
                </a:moveTo>
                <a:lnTo>
                  <a:pt x="5380136" y="0"/>
                </a:lnTo>
                <a:lnTo>
                  <a:pt x="5380136" y="2087314"/>
                </a:lnTo>
                <a:lnTo>
                  <a:pt x="0" y="2087314"/>
                </a:lnTo>
                <a:lnTo>
                  <a:pt x="0" y="0"/>
                </a:lnTo>
                <a:close/>
              </a:path>
            </a:pathLst>
          </a:custGeom>
          <a:blipFill>
            <a:blip r:embed="rId5"/>
            <a:stretch>
              <a:fillRect l="-45" t="0" r="-45" b="0"/>
            </a:stretch>
          </a:blipFill>
        </p:spPr>
      </p:sp>
      <p:sp>
        <p:nvSpPr>
          <p:cNvPr name="Freeform 20" id="20" descr="preencoded.png"/>
          <p:cNvSpPr/>
          <p:nvPr/>
        </p:nvSpPr>
        <p:spPr>
          <a:xfrm flipH="false" flipV="false" rot="0">
            <a:off x="4868615" y="5620791"/>
            <a:ext cx="398710" cy="498276"/>
          </a:xfrm>
          <a:custGeom>
            <a:avLst/>
            <a:gdLst/>
            <a:ahLst/>
            <a:cxnLst/>
            <a:rect r="r" b="b" t="t" l="l"/>
            <a:pathLst>
              <a:path h="498276" w="398710">
                <a:moveTo>
                  <a:pt x="0" y="0"/>
                </a:moveTo>
                <a:lnTo>
                  <a:pt x="398710" y="0"/>
                </a:lnTo>
                <a:lnTo>
                  <a:pt x="398710" y="498277"/>
                </a:lnTo>
                <a:lnTo>
                  <a:pt x="0" y="498277"/>
                </a:lnTo>
                <a:lnTo>
                  <a:pt x="0" y="0"/>
                </a:lnTo>
                <a:close/>
              </a:path>
            </a:pathLst>
          </a:custGeom>
          <a:blipFill>
            <a:blip r:embed="rId6"/>
            <a:stretch>
              <a:fillRect l="-469" t="0" r="-469" b="0"/>
            </a:stretch>
          </a:blipFill>
        </p:spPr>
      </p:sp>
      <p:grpSp>
        <p:nvGrpSpPr>
          <p:cNvPr name="Group 21" id="21"/>
          <p:cNvGrpSpPr/>
          <p:nvPr/>
        </p:nvGrpSpPr>
        <p:grpSpPr>
          <a:xfrm rot="0">
            <a:off x="8041630" y="5109865"/>
            <a:ext cx="3896469" cy="442912"/>
            <a:chOff x="0" y="0"/>
            <a:chExt cx="5195292" cy="590550"/>
          </a:xfrm>
        </p:grpSpPr>
        <p:sp>
          <p:nvSpPr>
            <p:cNvPr name="Freeform 22" id="22"/>
            <p:cNvSpPr/>
            <p:nvPr/>
          </p:nvSpPr>
          <p:spPr>
            <a:xfrm flipH="false" flipV="false" rot="0">
              <a:off x="0" y="0"/>
              <a:ext cx="5195292" cy="590550"/>
            </a:xfrm>
            <a:custGeom>
              <a:avLst/>
              <a:gdLst/>
              <a:ahLst/>
              <a:cxnLst/>
              <a:rect r="r" b="b" t="t" l="l"/>
              <a:pathLst>
                <a:path h="590550" w="5195292">
                  <a:moveTo>
                    <a:pt x="0" y="0"/>
                  </a:moveTo>
                  <a:lnTo>
                    <a:pt x="5195292" y="0"/>
                  </a:lnTo>
                  <a:lnTo>
                    <a:pt x="5195292" y="590550"/>
                  </a:lnTo>
                  <a:lnTo>
                    <a:pt x="0" y="590550"/>
                  </a:lnTo>
                  <a:close/>
                </a:path>
              </a:pathLst>
            </a:custGeom>
            <a:solidFill>
              <a:srgbClr val="000000">
                <a:alpha val="0"/>
              </a:srgbClr>
            </a:solidFill>
          </p:spPr>
        </p:sp>
        <p:sp>
          <p:nvSpPr>
            <p:cNvPr name="TextBox 23" id="23"/>
            <p:cNvSpPr txBox="true"/>
            <p:nvPr/>
          </p:nvSpPr>
          <p:spPr>
            <a:xfrm>
              <a:off x="0" y="-38100"/>
              <a:ext cx="51952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Collaborative Features</a:t>
              </a:r>
            </a:p>
          </p:txBody>
        </p:sp>
      </p:grpSp>
      <p:grpSp>
        <p:nvGrpSpPr>
          <p:cNvPr name="Group 24" id="24"/>
          <p:cNvGrpSpPr/>
          <p:nvPr/>
        </p:nvGrpSpPr>
        <p:grpSpPr>
          <a:xfrm rot="0">
            <a:off x="8041630" y="5722888"/>
            <a:ext cx="8970615" cy="907256"/>
            <a:chOff x="0" y="0"/>
            <a:chExt cx="11960820" cy="1209675"/>
          </a:xfrm>
        </p:grpSpPr>
        <p:sp>
          <p:nvSpPr>
            <p:cNvPr name="Freeform 25" id="25"/>
            <p:cNvSpPr/>
            <p:nvPr/>
          </p:nvSpPr>
          <p:spPr>
            <a:xfrm flipH="false" flipV="false" rot="0">
              <a:off x="0" y="0"/>
              <a:ext cx="11960820" cy="1209675"/>
            </a:xfrm>
            <a:custGeom>
              <a:avLst/>
              <a:gdLst/>
              <a:ahLst/>
              <a:cxnLst/>
              <a:rect r="r" b="b" t="t" l="l"/>
              <a:pathLst>
                <a:path h="1209675" w="11960820">
                  <a:moveTo>
                    <a:pt x="0" y="0"/>
                  </a:moveTo>
                  <a:lnTo>
                    <a:pt x="11960820" y="0"/>
                  </a:lnTo>
                  <a:lnTo>
                    <a:pt x="11960820" y="1209675"/>
                  </a:lnTo>
                  <a:lnTo>
                    <a:pt x="0" y="1209675"/>
                  </a:lnTo>
                  <a:close/>
                </a:path>
              </a:pathLst>
            </a:custGeom>
            <a:solidFill>
              <a:srgbClr val="000000">
                <a:alpha val="0"/>
              </a:srgbClr>
            </a:solidFill>
          </p:spPr>
        </p:sp>
        <p:sp>
          <p:nvSpPr>
            <p:cNvPr name="TextBox 26" id="26"/>
            <p:cNvSpPr txBox="true"/>
            <p:nvPr/>
          </p:nvSpPr>
          <p:spPr>
            <a:xfrm>
              <a:off x="0" y="-95250"/>
              <a:ext cx="11960820" cy="1304925"/>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Introduce tools for students to study and work together, fostering a sense of community.</a:t>
              </a:r>
            </a:p>
          </p:txBody>
        </p:sp>
      </p:grpSp>
      <p:grpSp>
        <p:nvGrpSpPr>
          <p:cNvPr name="Group 27" id="27"/>
          <p:cNvGrpSpPr/>
          <p:nvPr/>
        </p:nvGrpSpPr>
        <p:grpSpPr>
          <a:xfrm rot="0">
            <a:off x="7828955" y="6930032"/>
            <a:ext cx="9395966" cy="19050"/>
            <a:chOff x="0" y="0"/>
            <a:chExt cx="12527955" cy="25400"/>
          </a:xfrm>
        </p:grpSpPr>
        <p:sp>
          <p:nvSpPr>
            <p:cNvPr name="Freeform 28" id="28"/>
            <p:cNvSpPr/>
            <p:nvPr/>
          </p:nvSpPr>
          <p:spPr>
            <a:xfrm flipH="false" flipV="false" rot="0">
              <a:off x="0" y="0"/>
              <a:ext cx="12527915" cy="25400"/>
            </a:xfrm>
            <a:custGeom>
              <a:avLst/>
              <a:gdLst/>
              <a:ahLst/>
              <a:cxnLst/>
              <a:rect r="r" b="b" t="t" l="l"/>
              <a:pathLst>
                <a:path h="25400" w="12527915">
                  <a:moveTo>
                    <a:pt x="0" y="12700"/>
                  </a:moveTo>
                  <a:cubicBezTo>
                    <a:pt x="0" y="5715"/>
                    <a:pt x="5715" y="0"/>
                    <a:pt x="12700" y="0"/>
                  </a:cubicBezTo>
                  <a:lnTo>
                    <a:pt x="12515215" y="0"/>
                  </a:lnTo>
                  <a:cubicBezTo>
                    <a:pt x="12522200" y="0"/>
                    <a:pt x="12527915" y="5715"/>
                    <a:pt x="12527915" y="12700"/>
                  </a:cubicBezTo>
                  <a:cubicBezTo>
                    <a:pt x="12527915" y="19685"/>
                    <a:pt x="12522200" y="25400"/>
                    <a:pt x="12515215" y="25400"/>
                  </a:cubicBezTo>
                  <a:lnTo>
                    <a:pt x="12700" y="25400"/>
                  </a:lnTo>
                  <a:cubicBezTo>
                    <a:pt x="5715" y="25400"/>
                    <a:pt x="0" y="19685"/>
                    <a:pt x="0" y="12700"/>
                  </a:cubicBezTo>
                  <a:close/>
                </a:path>
              </a:pathLst>
            </a:custGeom>
            <a:solidFill>
              <a:srgbClr val="5C4E69"/>
            </a:solidFill>
          </p:spPr>
        </p:sp>
      </p:grpSp>
      <p:sp>
        <p:nvSpPr>
          <p:cNvPr name="Freeform 29" id="29" descr="preencoded.png"/>
          <p:cNvSpPr/>
          <p:nvPr/>
        </p:nvSpPr>
        <p:spPr>
          <a:xfrm flipH="false" flipV="false" rot="0">
            <a:off x="1032868" y="6984504"/>
            <a:ext cx="8070205" cy="2087315"/>
          </a:xfrm>
          <a:custGeom>
            <a:avLst/>
            <a:gdLst/>
            <a:ahLst/>
            <a:cxnLst/>
            <a:rect r="r" b="b" t="t" l="l"/>
            <a:pathLst>
              <a:path h="2087315" w="8070205">
                <a:moveTo>
                  <a:pt x="0" y="0"/>
                </a:moveTo>
                <a:lnTo>
                  <a:pt x="8070204" y="0"/>
                </a:lnTo>
                <a:lnTo>
                  <a:pt x="8070204" y="2087315"/>
                </a:lnTo>
                <a:lnTo>
                  <a:pt x="0" y="2087315"/>
                </a:lnTo>
                <a:lnTo>
                  <a:pt x="0" y="0"/>
                </a:lnTo>
                <a:close/>
              </a:path>
            </a:pathLst>
          </a:custGeom>
          <a:blipFill>
            <a:blip r:embed="rId7"/>
            <a:stretch>
              <a:fillRect l="-16" t="0" r="-16" b="0"/>
            </a:stretch>
          </a:blipFill>
        </p:spPr>
      </p:sp>
      <p:sp>
        <p:nvSpPr>
          <p:cNvPr name="Freeform 30" id="30" descr="preencoded.png"/>
          <p:cNvSpPr/>
          <p:nvPr/>
        </p:nvSpPr>
        <p:spPr>
          <a:xfrm flipH="false" flipV="false" rot="0">
            <a:off x="4868466" y="7778949"/>
            <a:ext cx="398710" cy="498276"/>
          </a:xfrm>
          <a:custGeom>
            <a:avLst/>
            <a:gdLst/>
            <a:ahLst/>
            <a:cxnLst/>
            <a:rect r="r" b="b" t="t" l="l"/>
            <a:pathLst>
              <a:path h="498276" w="398710">
                <a:moveTo>
                  <a:pt x="0" y="0"/>
                </a:moveTo>
                <a:lnTo>
                  <a:pt x="398710" y="0"/>
                </a:lnTo>
                <a:lnTo>
                  <a:pt x="398710" y="498276"/>
                </a:lnTo>
                <a:lnTo>
                  <a:pt x="0" y="498276"/>
                </a:lnTo>
                <a:lnTo>
                  <a:pt x="0" y="0"/>
                </a:lnTo>
                <a:close/>
              </a:path>
            </a:pathLst>
          </a:custGeom>
          <a:blipFill>
            <a:blip r:embed="rId8"/>
            <a:stretch>
              <a:fillRect l="-469" t="0" r="-469" b="0"/>
            </a:stretch>
          </a:blipFill>
        </p:spPr>
      </p:sp>
      <p:grpSp>
        <p:nvGrpSpPr>
          <p:cNvPr name="Group 31" id="31"/>
          <p:cNvGrpSpPr/>
          <p:nvPr/>
        </p:nvGrpSpPr>
        <p:grpSpPr>
          <a:xfrm rot="0">
            <a:off x="9386590" y="7268021"/>
            <a:ext cx="3544044" cy="442912"/>
            <a:chOff x="0" y="0"/>
            <a:chExt cx="4725392" cy="590550"/>
          </a:xfrm>
        </p:grpSpPr>
        <p:sp>
          <p:nvSpPr>
            <p:cNvPr name="Freeform 32" id="32"/>
            <p:cNvSpPr/>
            <p:nvPr/>
          </p:nvSpPr>
          <p:spPr>
            <a:xfrm flipH="false" flipV="false" rot="0">
              <a:off x="0" y="0"/>
              <a:ext cx="4725392" cy="590550"/>
            </a:xfrm>
            <a:custGeom>
              <a:avLst/>
              <a:gdLst/>
              <a:ahLst/>
              <a:cxnLst/>
              <a:rect r="r" b="b" t="t" l="l"/>
              <a:pathLst>
                <a:path h="590550" w="4725392">
                  <a:moveTo>
                    <a:pt x="0" y="0"/>
                  </a:moveTo>
                  <a:lnTo>
                    <a:pt x="4725392" y="0"/>
                  </a:lnTo>
                  <a:lnTo>
                    <a:pt x="4725392" y="590550"/>
                  </a:lnTo>
                  <a:lnTo>
                    <a:pt x="0" y="590550"/>
                  </a:lnTo>
                  <a:close/>
                </a:path>
              </a:pathLst>
            </a:custGeom>
            <a:solidFill>
              <a:srgbClr val="000000">
                <a:alpha val="0"/>
              </a:srgbClr>
            </a:solidFill>
          </p:spPr>
        </p:sp>
        <p:sp>
          <p:nvSpPr>
            <p:cNvPr name="TextBox 33" id="33"/>
            <p:cNvSpPr txBox="true"/>
            <p:nvPr/>
          </p:nvSpPr>
          <p:spPr>
            <a:xfrm>
              <a:off x="0" y="-38100"/>
              <a:ext cx="4725392" cy="628650"/>
            </a:xfrm>
            <a:prstGeom prst="rect">
              <a:avLst/>
            </a:prstGeom>
          </p:spPr>
          <p:txBody>
            <a:bodyPr anchor="t" rtlCol="false" tIns="0" lIns="0" bIns="0" rIns="0"/>
            <a:lstStyle/>
            <a:p>
              <a:pPr algn="l">
                <a:lnSpc>
                  <a:spcPts val="3437"/>
                </a:lnSpc>
              </a:pPr>
              <a:r>
                <a:rPr lang="en-US" sz="2750" b="true">
                  <a:solidFill>
                    <a:srgbClr val="DAD1E6"/>
                  </a:solidFill>
                  <a:latin typeface="Arimo Bold"/>
                  <a:ea typeface="Arimo Bold"/>
                  <a:cs typeface="Arimo Bold"/>
                  <a:sym typeface="Arimo Bold"/>
                </a:rPr>
                <a:t>Predictive Analytics</a:t>
              </a:r>
            </a:p>
          </p:txBody>
        </p:sp>
      </p:grpSp>
      <p:grpSp>
        <p:nvGrpSpPr>
          <p:cNvPr name="Group 34" id="34"/>
          <p:cNvGrpSpPr/>
          <p:nvPr/>
        </p:nvGrpSpPr>
        <p:grpSpPr>
          <a:xfrm rot="0">
            <a:off x="9386590" y="7881045"/>
            <a:ext cx="7625655" cy="907256"/>
            <a:chOff x="0" y="0"/>
            <a:chExt cx="10167540" cy="1209675"/>
          </a:xfrm>
        </p:grpSpPr>
        <p:sp>
          <p:nvSpPr>
            <p:cNvPr name="Freeform 35" id="35"/>
            <p:cNvSpPr/>
            <p:nvPr/>
          </p:nvSpPr>
          <p:spPr>
            <a:xfrm flipH="false" flipV="false" rot="0">
              <a:off x="0" y="0"/>
              <a:ext cx="10167540" cy="1209675"/>
            </a:xfrm>
            <a:custGeom>
              <a:avLst/>
              <a:gdLst/>
              <a:ahLst/>
              <a:cxnLst/>
              <a:rect r="r" b="b" t="t" l="l"/>
              <a:pathLst>
                <a:path h="1209675" w="10167540">
                  <a:moveTo>
                    <a:pt x="0" y="0"/>
                  </a:moveTo>
                  <a:lnTo>
                    <a:pt x="10167540" y="0"/>
                  </a:lnTo>
                  <a:lnTo>
                    <a:pt x="10167540" y="1209675"/>
                  </a:lnTo>
                  <a:lnTo>
                    <a:pt x="0" y="1209675"/>
                  </a:lnTo>
                  <a:close/>
                </a:path>
              </a:pathLst>
            </a:custGeom>
            <a:solidFill>
              <a:srgbClr val="000000">
                <a:alpha val="0"/>
              </a:srgbClr>
            </a:solidFill>
          </p:spPr>
        </p:sp>
        <p:sp>
          <p:nvSpPr>
            <p:cNvPr name="TextBox 36" id="36"/>
            <p:cNvSpPr txBox="true"/>
            <p:nvPr/>
          </p:nvSpPr>
          <p:spPr>
            <a:xfrm>
              <a:off x="0" y="-95250"/>
              <a:ext cx="10167540" cy="1304925"/>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Leverage data insights to provide proactive recommendations and identify at-risk students.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grpSp>
        <p:nvGrpSpPr>
          <p:cNvPr name="Group 7" id="7"/>
          <p:cNvGrpSpPr/>
          <p:nvPr/>
        </p:nvGrpSpPr>
        <p:grpSpPr>
          <a:xfrm rot="0">
            <a:off x="7850237" y="3580656"/>
            <a:ext cx="7088237" cy="885974"/>
            <a:chOff x="0" y="0"/>
            <a:chExt cx="9450983" cy="1181298"/>
          </a:xfrm>
        </p:grpSpPr>
        <p:sp>
          <p:nvSpPr>
            <p:cNvPr name="Freeform 8" id="8"/>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9" id="9"/>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Conclusion</a:t>
              </a:r>
            </a:p>
          </p:txBody>
        </p:sp>
      </p:grpSp>
      <p:grpSp>
        <p:nvGrpSpPr>
          <p:cNvPr name="Group 10" id="10"/>
          <p:cNvGrpSpPr/>
          <p:nvPr/>
        </p:nvGrpSpPr>
        <p:grpSpPr>
          <a:xfrm rot="0">
            <a:off x="7850237" y="4891831"/>
            <a:ext cx="9445526" cy="1814512"/>
            <a:chOff x="0" y="0"/>
            <a:chExt cx="12594035" cy="2419350"/>
          </a:xfrm>
        </p:grpSpPr>
        <p:sp>
          <p:nvSpPr>
            <p:cNvPr name="Freeform 11" id="11"/>
            <p:cNvSpPr/>
            <p:nvPr/>
          </p:nvSpPr>
          <p:spPr>
            <a:xfrm flipH="false" flipV="false" rot="0">
              <a:off x="0" y="0"/>
              <a:ext cx="12594035" cy="2419350"/>
            </a:xfrm>
            <a:custGeom>
              <a:avLst/>
              <a:gdLst/>
              <a:ahLst/>
              <a:cxnLst/>
              <a:rect r="r" b="b" t="t" l="l"/>
              <a:pathLst>
                <a:path h="2419350" w="12594035">
                  <a:moveTo>
                    <a:pt x="0" y="0"/>
                  </a:moveTo>
                  <a:lnTo>
                    <a:pt x="12594035" y="0"/>
                  </a:lnTo>
                  <a:lnTo>
                    <a:pt x="12594035" y="2419350"/>
                  </a:lnTo>
                  <a:lnTo>
                    <a:pt x="0" y="2419350"/>
                  </a:lnTo>
                  <a:close/>
                </a:path>
              </a:pathLst>
            </a:custGeom>
            <a:solidFill>
              <a:srgbClr val="000000">
                <a:alpha val="0"/>
              </a:srgbClr>
            </a:solidFill>
          </p:spPr>
        </p:sp>
        <p:sp>
          <p:nvSpPr>
            <p:cNvPr name="TextBox 12" id="12"/>
            <p:cNvSpPr txBox="true"/>
            <p:nvPr/>
          </p:nvSpPr>
          <p:spPr>
            <a:xfrm>
              <a:off x="0" y="-95250"/>
              <a:ext cx="12594035" cy="2514600"/>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StudyGenius is poised to revolutionize the way students approach learning and academic success. By harnessing the power of AI and cutting-edge technology, we aim to empower learners, enhance productivity, and unlock new heights of academic achievement.</a:t>
              </a: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p:spPr>
        </p:sp>
      </p:grpSp>
      <p:grpSp>
        <p:nvGrpSpPr>
          <p:cNvPr name="Group 6" id="6"/>
          <p:cNvGrpSpPr/>
          <p:nvPr/>
        </p:nvGrpSpPr>
        <p:grpSpPr>
          <a:xfrm rot="0">
            <a:off x="992238" y="2411165"/>
            <a:ext cx="7088237" cy="885974"/>
            <a:chOff x="0" y="0"/>
            <a:chExt cx="9450983" cy="1181298"/>
          </a:xfrm>
        </p:grpSpPr>
        <p:sp>
          <p:nvSpPr>
            <p:cNvPr name="Freeform 7" id="7"/>
            <p:cNvSpPr/>
            <p:nvPr/>
          </p:nvSpPr>
          <p:spPr>
            <a:xfrm flipH="false" flipV="false" rot="0">
              <a:off x="0" y="0"/>
              <a:ext cx="9450984" cy="1181298"/>
            </a:xfrm>
            <a:custGeom>
              <a:avLst/>
              <a:gdLst/>
              <a:ahLst/>
              <a:cxnLst/>
              <a:rect r="r" b="b" t="t" l="l"/>
              <a:pathLst>
                <a:path h="1181298" w="9450984">
                  <a:moveTo>
                    <a:pt x="0" y="0"/>
                  </a:moveTo>
                  <a:lnTo>
                    <a:pt x="9450984" y="0"/>
                  </a:lnTo>
                  <a:lnTo>
                    <a:pt x="9450984" y="1181298"/>
                  </a:lnTo>
                  <a:lnTo>
                    <a:pt x="0" y="1181298"/>
                  </a:lnTo>
                  <a:close/>
                </a:path>
              </a:pathLst>
            </a:custGeom>
            <a:solidFill>
              <a:srgbClr val="000000">
                <a:alpha val="0"/>
              </a:srgbClr>
            </a:solidFill>
          </p:spPr>
        </p:sp>
        <p:sp>
          <p:nvSpPr>
            <p:cNvPr name="TextBox 8" id="8"/>
            <p:cNvSpPr txBox="true"/>
            <p:nvPr/>
          </p:nvSpPr>
          <p:spPr>
            <a:xfrm>
              <a:off x="0" y="-57150"/>
              <a:ext cx="9450983" cy="1238448"/>
            </a:xfrm>
            <a:prstGeom prst="rect">
              <a:avLst/>
            </a:prstGeom>
          </p:spPr>
          <p:txBody>
            <a:bodyPr anchor="t" rtlCol="false" tIns="0" lIns="0" bIns="0" rIns="0"/>
            <a:lstStyle/>
            <a:p>
              <a:pPr algn="l">
                <a:lnSpc>
                  <a:spcPts val="6937"/>
                </a:lnSpc>
              </a:pPr>
              <a:r>
                <a:rPr lang="en-US" sz="5562" b="true">
                  <a:solidFill>
                    <a:srgbClr val="F94CAF"/>
                  </a:solidFill>
                  <a:latin typeface="Arimo Bold"/>
                  <a:ea typeface="Arimo Bold"/>
                  <a:cs typeface="Arimo Bold"/>
                  <a:sym typeface="Arimo Bold"/>
                </a:rPr>
                <a:t>Thank You</a:t>
              </a:r>
            </a:p>
          </p:txBody>
        </p:sp>
      </p:grpSp>
      <p:grpSp>
        <p:nvGrpSpPr>
          <p:cNvPr name="Group 9" id="9"/>
          <p:cNvGrpSpPr/>
          <p:nvPr/>
        </p:nvGrpSpPr>
        <p:grpSpPr>
          <a:xfrm rot="0">
            <a:off x="992238" y="3864174"/>
            <a:ext cx="16303526" cy="907256"/>
            <a:chOff x="0" y="0"/>
            <a:chExt cx="21738035" cy="1209675"/>
          </a:xfrm>
        </p:grpSpPr>
        <p:sp>
          <p:nvSpPr>
            <p:cNvPr name="Freeform 10" id="10"/>
            <p:cNvSpPr/>
            <p:nvPr/>
          </p:nvSpPr>
          <p:spPr>
            <a:xfrm flipH="false" flipV="false" rot="0">
              <a:off x="0" y="0"/>
              <a:ext cx="21738034" cy="1209675"/>
            </a:xfrm>
            <a:custGeom>
              <a:avLst/>
              <a:gdLst/>
              <a:ahLst/>
              <a:cxnLst/>
              <a:rect r="r" b="b" t="t" l="l"/>
              <a:pathLst>
                <a:path h="1209675" w="21738034">
                  <a:moveTo>
                    <a:pt x="0" y="0"/>
                  </a:moveTo>
                  <a:lnTo>
                    <a:pt x="21738034" y="0"/>
                  </a:lnTo>
                  <a:lnTo>
                    <a:pt x="21738034" y="1209675"/>
                  </a:lnTo>
                  <a:lnTo>
                    <a:pt x="0" y="1209675"/>
                  </a:lnTo>
                  <a:close/>
                </a:path>
              </a:pathLst>
            </a:custGeom>
            <a:solidFill>
              <a:srgbClr val="000000">
                <a:alpha val="0"/>
              </a:srgbClr>
            </a:solidFill>
          </p:spPr>
        </p:sp>
        <p:sp>
          <p:nvSpPr>
            <p:cNvPr name="TextBox 11" id="11"/>
            <p:cNvSpPr txBox="true"/>
            <p:nvPr/>
          </p:nvSpPr>
          <p:spPr>
            <a:xfrm>
              <a:off x="0" y="-95250"/>
              <a:ext cx="21738035" cy="1304925"/>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We would like to extend our sincere appreciation to the entire team for their hard work and dedication in bringing StudyGenius to life. This project was a collaborative effort, and we are especially grateful for the following key contributions:</a:t>
              </a:r>
            </a:p>
          </p:txBody>
        </p:sp>
      </p:grpSp>
      <p:grpSp>
        <p:nvGrpSpPr>
          <p:cNvPr name="Group 12" id="12"/>
          <p:cNvGrpSpPr/>
          <p:nvPr/>
        </p:nvGrpSpPr>
        <p:grpSpPr>
          <a:xfrm rot="0">
            <a:off x="992238" y="5090369"/>
            <a:ext cx="16303526" cy="453629"/>
            <a:chOff x="0" y="0"/>
            <a:chExt cx="21738035" cy="604838"/>
          </a:xfrm>
        </p:grpSpPr>
        <p:sp>
          <p:nvSpPr>
            <p:cNvPr name="Freeform 13" id="13"/>
            <p:cNvSpPr/>
            <p:nvPr/>
          </p:nvSpPr>
          <p:spPr>
            <a:xfrm flipH="false" flipV="false" rot="0">
              <a:off x="0" y="0"/>
              <a:ext cx="21738034" cy="604838"/>
            </a:xfrm>
            <a:custGeom>
              <a:avLst/>
              <a:gdLst/>
              <a:ahLst/>
              <a:cxnLst/>
              <a:rect r="r" b="b" t="t" l="l"/>
              <a:pathLst>
                <a:path h="604838" w="21738034">
                  <a:moveTo>
                    <a:pt x="0" y="0"/>
                  </a:moveTo>
                  <a:lnTo>
                    <a:pt x="21738034" y="0"/>
                  </a:lnTo>
                  <a:lnTo>
                    <a:pt x="21738034" y="604838"/>
                  </a:lnTo>
                  <a:lnTo>
                    <a:pt x="0" y="604838"/>
                  </a:lnTo>
                  <a:close/>
                </a:path>
              </a:pathLst>
            </a:custGeom>
            <a:solidFill>
              <a:srgbClr val="000000">
                <a:alpha val="0"/>
              </a:srgbClr>
            </a:solidFill>
          </p:spPr>
        </p:sp>
        <p:sp>
          <p:nvSpPr>
            <p:cNvPr name="TextBox 14" id="14"/>
            <p:cNvSpPr txBox="true"/>
            <p:nvPr/>
          </p:nvSpPr>
          <p:spPr>
            <a:xfrm>
              <a:off x="0" y="-95250"/>
              <a:ext cx="21738035" cy="700088"/>
            </a:xfrm>
            <a:prstGeom prst="rect">
              <a:avLst/>
            </a:prstGeom>
          </p:spPr>
          <p:txBody>
            <a:bodyPr anchor="t" rtlCol="false" tIns="0" lIns="0" bIns="0" rIns="0"/>
            <a:lstStyle/>
            <a:p>
              <a:pPr algn="l" marL="329902" indent="-164951" lvl="1">
                <a:lnSpc>
                  <a:spcPts val="3562"/>
                </a:lnSpc>
                <a:buFont typeface="Arial"/>
                <a:buChar char="•"/>
              </a:pPr>
              <a:r>
                <a:rPr lang="en-US" b="true" sz="2187">
                  <a:solidFill>
                    <a:srgbClr val="DAD1E6"/>
                  </a:solidFill>
                  <a:latin typeface="Fira Sans Bold"/>
                  <a:ea typeface="Fira Sans Bold"/>
                  <a:cs typeface="Fira Sans Bold"/>
                  <a:sym typeface="Fira Sans Bold"/>
                </a:rPr>
                <a:t>Arpit Raj (RA2311031010114)</a:t>
              </a:r>
            </a:p>
          </p:txBody>
        </p:sp>
      </p:grpSp>
      <p:grpSp>
        <p:nvGrpSpPr>
          <p:cNvPr name="Group 15" id="15"/>
          <p:cNvGrpSpPr/>
          <p:nvPr/>
        </p:nvGrpSpPr>
        <p:grpSpPr>
          <a:xfrm rot="0">
            <a:off x="992238" y="5643116"/>
            <a:ext cx="16303526" cy="453629"/>
            <a:chOff x="0" y="0"/>
            <a:chExt cx="21738035" cy="604838"/>
          </a:xfrm>
        </p:grpSpPr>
        <p:sp>
          <p:nvSpPr>
            <p:cNvPr name="Freeform 16" id="16"/>
            <p:cNvSpPr/>
            <p:nvPr/>
          </p:nvSpPr>
          <p:spPr>
            <a:xfrm flipH="false" flipV="false" rot="0">
              <a:off x="0" y="0"/>
              <a:ext cx="21738034" cy="604838"/>
            </a:xfrm>
            <a:custGeom>
              <a:avLst/>
              <a:gdLst/>
              <a:ahLst/>
              <a:cxnLst/>
              <a:rect r="r" b="b" t="t" l="l"/>
              <a:pathLst>
                <a:path h="604838" w="21738034">
                  <a:moveTo>
                    <a:pt x="0" y="0"/>
                  </a:moveTo>
                  <a:lnTo>
                    <a:pt x="21738034" y="0"/>
                  </a:lnTo>
                  <a:lnTo>
                    <a:pt x="21738034" y="604838"/>
                  </a:lnTo>
                  <a:lnTo>
                    <a:pt x="0" y="604838"/>
                  </a:lnTo>
                  <a:close/>
                </a:path>
              </a:pathLst>
            </a:custGeom>
            <a:solidFill>
              <a:srgbClr val="000000">
                <a:alpha val="0"/>
              </a:srgbClr>
            </a:solidFill>
          </p:spPr>
        </p:sp>
        <p:sp>
          <p:nvSpPr>
            <p:cNvPr name="TextBox 17" id="17"/>
            <p:cNvSpPr txBox="true"/>
            <p:nvPr/>
          </p:nvSpPr>
          <p:spPr>
            <a:xfrm>
              <a:off x="0" y="-95250"/>
              <a:ext cx="21738035" cy="700088"/>
            </a:xfrm>
            <a:prstGeom prst="rect">
              <a:avLst/>
            </a:prstGeom>
          </p:spPr>
          <p:txBody>
            <a:bodyPr anchor="t" rtlCol="false" tIns="0" lIns="0" bIns="0" rIns="0"/>
            <a:lstStyle/>
            <a:p>
              <a:pPr algn="l" marL="329902" indent="-164951" lvl="1">
                <a:lnSpc>
                  <a:spcPts val="3562"/>
                </a:lnSpc>
                <a:buFont typeface="Arial"/>
                <a:buChar char="•"/>
              </a:pPr>
              <a:r>
                <a:rPr lang="en-US" b="true" sz="2187">
                  <a:solidFill>
                    <a:srgbClr val="DAD1E6"/>
                  </a:solidFill>
                  <a:latin typeface="Fira Sans Bold"/>
                  <a:ea typeface="Fira Sans Bold"/>
                  <a:cs typeface="Fira Sans Bold"/>
                  <a:sym typeface="Fira Sans Bold"/>
                </a:rPr>
                <a:t>Raushan Kumar (RA2311031010126)</a:t>
              </a:r>
            </a:p>
          </p:txBody>
        </p:sp>
      </p:grpSp>
      <p:grpSp>
        <p:nvGrpSpPr>
          <p:cNvPr name="Group 18" id="18"/>
          <p:cNvGrpSpPr/>
          <p:nvPr/>
        </p:nvGrpSpPr>
        <p:grpSpPr>
          <a:xfrm rot="0">
            <a:off x="992238" y="6195864"/>
            <a:ext cx="16303526" cy="453629"/>
            <a:chOff x="0" y="0"/>
            <a:chExt cx="21738035" cy="604838"/>
          </a:xfrm>
        </p:grpSpPr>
        <p:sp>
          <p:nvSpPr>
            <p:cNvPr name="Freeform 19" id="19"/>
            <p:cNvSpPr/>
            <p:nvPr/>
          </p:nvSpPr>
          <p:spPr>
            <a:xfrm flipH="false" flipV="false" rot="0">
              <a:off x="0" y="0"/>
              <a:ext cx="21738034" cy="604838"/>
            </a:xfrm>
            <a:custGeom>
              <a:avLst/>
              <a:gdLst/>
              <a:ahLst/>
              <a:cxnLst/>
              <a:rect r="r" b="b" t="t" l="l"/>
              <a:pathLst>
                <a:path h="604838" w="21738034">
                  <a:moveTo>
                    <a:pt x="0" y="0"/>
                  </a:moveTo>
                  <a:lnTo>
                    <a:pt x="21738034" y="0"/>
                  </a:lnTo>
                  <a:lnTo>
                    <a:pt x="21738034" y="604838"/>
                  </a:lnTo>
                  <a:lnTo>
                    <a:pt x="0" y="604838"/>
                  </a:lnTo>
                  <a:close/>
                </a:path>
              </a:pathLst>
            </a:custGeom>
            <a:solidFill>
              <a:srgbClr val="000000">
                <a:alpha val="0"/>
              </a:srgbClr>
            </a:solidFill>
          </p:spPr>
        </p:sp>
        <p:sp>
          <p:nvSpPr>
            <p:cNvPr name="TextBox 20" id="20"/>
            <p:cNvSpPr txBox="true"/>
            <p:nvPr/>
          </p:nvSpPr>
          <p:spPr>
            <a:xfrm>
              <a:off x="0" y="-95250"/>
              <a:ext cx="21738035" cy="700088"/>
            </a:xfrm>
            <a:prstGeom prst="rect">
              <a:avLst/>
            </a:prstGeom>
          </p:spPr>
          <p:txBody>
            <a:bodyPr anchor="t" rtlCol="false" tIns="0" lIns="0" bIns="0" rIns="0"/>
            <a:lstStyle/>
            <a:p>
              <a:pPr algn="l" marL="329902" indent="-164951" lvl="1">
                <a:lnSpc>
                  <a:spcPts val="3562"/>
                </a:lnSpc>
                <a:buFont typeface="Arial"/>
                <a:buChar char="•"/>
              </a:pPr>
              <a:r>
                <a:rPr lang="en-US" b="true" sz="2187">
                  <a:solidFill>
                    <a:srgbClr val="DAD1E6"/>
                  </a:solidFill>
                  <a:latin typeface="Fira Sans Bold"/>
                  <a:ea typeface="Fira Sans Bold"/>
                  <a:cs typeface="Fira Sans Bold"/>
                  <a:sym typeface="Fira Sans Bold"/>
                </a:rPr>
                <a:t>Ishan Singh (RA2311031010130)</a:t>
              </a:r>
            </a:p>
          </p:txBody>
        </p:sp>
      </p:grpSp>
      <p:grpSp>
        <p:nvGrpSpPr>
          <p:cNvPr name="Group 21" id="21"/>
          <p:cNvGrpSpPr/>
          <p:nvPr/>
        </p:nvGrpSpPr>
        <p:grpSpPr>
          <a:xfrm rot="0">
            <a:off x="992238" y="6968430"/>
            <a:ext cx="16303526" cy="907256"/>
            <a:chOff x="0" y="0"/>
            <a:chExt cx="21738035" cy="1209675"/>
          </a:xfrm>
        </p:grpSpPr>
        <p:sp>
          <p:nvSpPr>
            <p:cNvPr name="Freeform 22" id="22"/>
            <p:cNvSpPr/>
            <p:nvPr/>
          </p:nvSpPr>
          <p:spPr>
            <a:xfrm flipH="false" flipV="false" rot="0">
              <a:off x="0" y="0"/>
              <a:ext cx="21738034" cy="1209675"/>
            </a:xfrm>
            <a:custGeom>
              <a:avLst/>
              <a:gdLst/>
              <a:ahLst/>
              <a:cxnLst/>
              <a:rect r="r" b="b" t="t" l="l"/>
              <a:pathLst>
                <a:path h="1209675" w="21738034">
                  <a:moveTo>
                    <a:pt x="0" y="0"/>
                  </a:moveTo>
                  <a:lnTo>
                    <a:pt x="21738034" y="0"/>
                  </a:lnTo>
                  <a:lnTo>
                    <a:pt x="21738034" y="1209675"/>
                  </a:lnTo>
                  <a:lnTo>
                    <a:pt x="0" y="1209675"/>
                  </a:lnTo>
                  <a:close/>
                </a:path>
              </a:pathLst>
            </a:custGeom>
            <a:solidFill>
              <a:srgbClr val="000000">
                <a:alpha val="0"/>
              </a:srgbClr>
            </a:solidFill>
          </p:spPr>
        </p:sp>
        <p:sp>
          <p:nvSpPr>
            <p:cNvPr name="TextBox 23" id="23"/>
            <p:cNvSpPr txBox="true"/>
            <p:nvPr/>
          </p:nvSpPr>
          <p:spPr>
            <a:xfrm>
              <a:off x="0" y="-95250"/>
              <a:ext cx="21738035" cy="1304925"/>
            </a:xfrm>
            <a:prstGeom prst="rect">
              <a:avLst/>
            </a:prstGeom>
          </p:spPr>
          <p:txBody>
            <a:bodyPr anchor="t" rtlCol="false" tIns="0" lIns="0" bIns="0" rIns="0"/>
            <a:lstStyle/>
            <a:p>
              <a:pPr algn="l">
                <a:lnSpc>
                  <a:spcPts val="3562"/>
                </a:lnSpc>
              </a:pPr>
              <a:r>
                <a:rPr lang="en-US" sz="2187">
                  <a:solidFill>
                    <a:srgbClr val="DAD1E6"/>
                  </a:solidFill>
                  <a:latin typeface="Fira Sans"/>
                  <a:ea typeface="Fira Sans"/>
                  <a:cs typeface="Fira Sans"/>
                  <a:sym typeface="Fira Sans"/>
                </a:rPr>
                <a:t>Together, this team worked tirelessly to bring this project to life, and we are deeply grateful for their hard work, dedication, and collaborative spirit.</a:t>
              </a:r>
            </a:p>
          </p:txBody>
        </p:sp>
      </p:grpSp>
      <p:grpSp>
        <p:nvGrpSpPr>
          <p:cNvPr name="Group 24" id="24"/>
          <p:cNvGrpSpPr/>
          <p:nvPr/>
        </p:nvGrpSpPr>
        <p:grpSpPr>
          <a:xfrm rot="0">
            <a:off x="11450235" y="8801495"/>
            <a:ext cx="4846840" cy="461665"/>
            <a:chOff x="0" y="0"/>
            <a:chExt cx="6462453" cy="615553"/>
          </a:xfrm>
        </p:grpSpPr>
        <p:sp>
          <p:nvSpPr>
            <p:cNvPr name="Freeform 25" id="25"/>
            <p:cNvSpPr/>
            <p:nvPr/>
          </p:nvSpPr>
          <p:spPr>
            <a:xfrm flipH="false" flipV="false" rot="0">
              <a:off x="0" y="0"/>
              <a:ext cx="6462453" cy="615553"/>
            </a:xfrm>
            <a:custGeom>
              <a:avLst/>
              <a:gdLst/>
              <a:ahLst/>
              <a:cxnLst/>
              <a:rect r="r" b="b" t="t" l="l"/>
              <a:pathLst>
                <a:path h="615553" w="6462453">
                  <a:moveTo>
                    <a:pt x="0" y="0"/>
                  </a:moveTo>
                  <a:lnTo>
                    <a:pt x="6462453" y="0"/>
                  </a:lnTo>
                  <a:lnTo>
                    <a:pt x="6462453" y="615553"/>
                  </a:lnTo>
                  <a:lnTo>
                    <a:pt x="0" y="615553"/>
                  </a:lnTo>
                  <a:close/>
                </a:path>
              </a:pathLst>
            </a:custGeom>
            <a:solidFill>
              <a:srgbClr val="000000">
                <a:alpha val="0"/>
              </a:srgbClr>
            </a:solidFill>
          </p:spPr>
        </p:sp>
        <p:sp>
          <p:nvSpPr>
            <p:cNvPr name="TextBox 26" id="26"/>
            <p:cNvSpPr txBox="true"/>
            <p:nvPr/>
          </p:nvSpPr>
          <p:spPr>
            <a:xfrm>
              <a:off x="0" y="-47625"/>
              <a:ext cx="6462453" cy="663178"/>
            </a:xfrm>
            <a:prstGeom prst="rect">
              <a:avLst/>
            </a:prstGeom>
          </p:spPr>
          <p:txBody>
            <a:bodyPr anchor="t" rtlCol="false" tIns="0" lIns="0" bIns="0" rIns="0"/>
            <a:lstStyle/>
            <a:p>
              <a:pPr algn="l">
                <a:lnSpc>
                  <a:spcPts val="2699"/>
                </a:lnSpc>
              </a:pPr>
              <a:r>
                <a:rPr lang="en-US" sz="2249">
                  <a:solidFill>
                    <a:srgbClr val="FFFFFF"/>
                  </a:solidFill>
                  <a:latin typeface="Calibri (MS)"/>
                  <a:ea typeface="Calibri (MS)"/>
                  <a:cs typeface="Calibri (MS)"/>
                  <a:sym typeface="Calibri (MS)"/>
                </a:rPr>
                <a:t>https://github.com/arpitraj03/Arpit-Raj</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DAGmOySSa_A</dc:identifier>
  <dcterms:modified xsi:type="dcterms:W3CDTF">2011-08-01T06:04:30Z</dcterms:modified>
  <cp:revision>1</cp:revision>
  <dc:title>StudyGenius-Your-AI-Powered-Study-Assistant raja.pptx</dc:title>
</cp:coreProperties>
</file>